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66" d="100"/>
          <a:sy n="66" d="100"/>
        </p:scale>
        <p:origin x="710" y="83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144360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SIH</a:t>
            </a:r>
            <a:r>
              <a:rPr spc="-10" dirty="0"/>
              <a:t> </a:t>
            </a:r>
            <a:r>
              <a:rPr dirty="0"/>
              <a:t>2026</a:t>
            </a:r>
            <a:r>
              <a:rPr spc="-10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Submission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[</a:t>
            </a:r>
            <a:r>
              <a:rPr spc="-10" dirty="0"/>
              <a:t> Project </a:t>
            </a:r>
            <a:r>
              <a:rPr dirty="0"/>
              <a:t>/</a:t>
            </a:r>
            <a:r>
              <a:rPr spc="-5" dirty="0"/>
              <a:t> </a:t>
            </a:r>
            <a:r>
              <a:rPr spc="-20" dirty="0"/>
              <a:t>Team</a:t>
            </a:r>
            <a:r>
              <a:rPr spc="-10" dirty="0"/>
              <a:t> </a:t>
            </a:r>
            <a:r>
              <a:rPr dirty="0"/>
              <a:t>Name</a:t>
            </a:r>
            <a:r>
              <a:rPr spc="-10" dirty="0"/>
              <a:t> </a:t>
            </a:r>
            <a:r>
              <a:rPr spc="-50" dirty="0"/>
              <a:t>]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44360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SIH</a:t>
            </a:r>
            <a:r>
              <a:rPr spc="-10" dirty="0"/>
              <a:t> </a:t>
            </a:r>
            <a:r>
              <a:rPr dirty="0"/>
              <a:t>2026</a:t>
            </a:r>
            <a:r>
              <a:rPr spc="-10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Submission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[</a:t>
            </a:r>
            <a:r>
              <a:rPr spc="-10" dirty="0"/>
              <a:t> Project </a:t>
            </a:r>
            <a:r>
              <a:rPr dirty="0"/>
              <a:t>/</a:t>
            </a:r>
            <a:r>
              <a:rPr spc="-5" dirty="0"/>
              <a:t> </a:t>
            </a:r>
            <a:r>
              <a:rPr spc="-20" dirty="0"/>
              <a:t>Team</a:t>
            </a:r>
            <a:r>
              <a:rPr spc="-10" dirty="0"/>
              <a:t> </a:t>
            </a:r>
            <a:r>
              <a:rPr dirty="0"/>
              <a:t>Name</a:t>
            </a:r>
            <a:r>
              <a:rPr spc="-10" dirty="0"/>
              <a:t> </a:t>
            </a:r>
            <a:r>
              <a:rPr spc="-50" dirty="0"/>
              <a:t>]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44360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SIH</a:t>
            </a:r>
            <a:r>
              <a:rPr spc="-10" dirty="0"/>
              <a:t> </a:t>
            </a:r>
            <a:r>
              <a:rPr dirty="0"/>
              <a:t>2026</a:t>
            </a:r>
            <a:r>
              <a:rPr spc="-10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Submission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[</a:t>
            </a:r>
            <a:r>
              <a:rPr spc="-10" dirty="0"/>
              <a:t> Project </a:t>
            </a:r>
            <a:r>
              <a:rPr dirty="0"/>
              <a:t>/</a:t>
            </a:r>
            <a:r>
              <a:rPr spc="-5" dirty="0"/>
              <a:t> </a:t>
            </a:r>
            <a:r>
              <a:rPr spc="-20" dirty="0"/>
              <a:t>Team</a:t>
            </a:r>
            <a:r>
              <a:rPr spc="-10" dirty="0"/>
              <a:t> </a:t>
            </a:r>
            <a:r>
              <a:rPr dirty="0"/>
              <a:t>Name</a:t>
            </a:r>
            <a:r>
              <a:rPr spc="-10" dirty="0"/>
              <a:t> </a:t>
            </a:r>
            <a:r>
              <a:rPr spc="-50" dirty="0"/>
              <a:t>]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144360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SIH</a:t>
            </a:r>
            <a:r>
              <a:rPr spc="-10" dirty="0"/>
              <a:t> </a:t>
            </a:r>
            <a:r>
              <a:rPr dirty="0"/>
              <a:t>2026</a:t>
            </a:r>
            <a:r>
              <a:rPr spc="-10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Submission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[</a:t>
            </a:r>
            <a:r>
              <a:rPr spc="-10" dirty="0"/>
              <a:t> Project </a:t>
            </a:r>
            <a:r>
              <a:rPr dirty="0"/>
              <a:t>/</a:t>
            </a:r>
            <a:r>
              <a:rPr spc="-5" dirty="0"/>
              <a:t> </a:t>
            </a:r>
            <a:r>
              <a:rPr spc="-20" dirty="0"/>
              <a:t>Team</a:t>
            </a:r>
            <a:r>
              <a:rPr spc="-10" dirty="0"/>
              <a:t> </a:t>
            </a:r>
            <a:r>
              <a:rPr dirty="0"/>
              <a:t>Name</a:t>
            </a:r>
            <a:r>
              <a:rPr spc="-10" dirty="0"/>
              <a:t> </a:t>
            </a:r>
            <a:r>
              <a:rPr spc="-50" dirty="0"/>
              <a:t>]</a:t>
            </a:r>
            <a:endParaRPr spc="-5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SIH</a:t>
            </a:r>
            <a:r>
              <a:rPr spc="-10" dirty="0"/>
              <a:t> </a:t>
            </a:r>
            <a:r>
              <a:rPr dirty="0"/>
              <a:t>2026</a:t>
            </a:r>
            <a:r>
              <a:rPr spc="-10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Submission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[</a:t>
            </a:r>
            <a:r>
              <a:rPr spc="-10" dirty="0"/>
              <a:t> Project </a:t>
            </a:r>
            <a:r>
              <a:rPr dirty="0"/>
              <a:t>/</a:t>
            </a:r>
            <a:r>
              <a:rPr spc="-5" dirty="0"/>
              <a:t> </a:t>
            </a:r>
            <a:r>
              <a:rPr spc="-20" dirty="0"/>
              <a:t>Team</a:t>
            </a:r>
            <a:r>
              <a:rPr spc="-10" dirty="0"/>
              <a:t> </a:t>
            </a:r>
            <a:r>
              <a:rPr dirty="0"/>
              <a:t>Name</a:t>
            </a:r>
            <a:r>
              <a:rPr spc="-10" dirty="0"/>
              <a:t> </a:t>
            </a:r>
            <a:r>
              <a:rPr spc="-50" dirty="0"/>
              <a:t>]</a:t>
            </a:r>
            <a:endParaRPr spc="-5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40029" y="150876"/>
            <a:ext cx="233679" cy="233679"/>
          </a:xfrm>
          <a:custGeom>
            <a:avLst/>
            <a:gdLst/>
            <a:ahLst/>
            <a:cxnLst/>
            <a:rect l="l" t="t" r="r" b="b"/>
            <a:pathLst>
              <a:path w="233679" h="233679">
                <a:moveTo>
                  <a:pt x="0" y="0"/>
                </a:moveTo>
                <a:lnTo>
                  <a:pt x="233171" y="0"/>
                </a:lnTo>
                <a:lnTo>
                  <a:pt x="233171" y="233171"/>
                </a:lnTo>
                <a:lnTo>
                  <a:pt x="0" y="233171"/>
                </a:lnTo>
                <a:lnTo>
                  <a:pt x="0" y="0"/>
                </a:lnTo>
                <a:close/>
              </a:path>
            </a:pathLst>
          </a:custGeom>
          <a:ln w="12699">
            <a:solidFill>
              <a:srgbClr val="707A7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44561" y="175767"/>
            <a:ext cx="3654876" cy="314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144360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60307" y="1126807"/>
            <a:ext cx="4223384" cy="1060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3040" y="4972685"/>
            <a:ext cx="2022475" cy="114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SIH</a:t>
            </a:r>
            <a:r>
              <a:rPr spc="-10" dirty="0"/>
              <a:t> </a:t>
            </a:r>
            <a:r>
              <a:rPr dirty="0"/>
              <a:t>2026</a:t>
            </a:r>
            <a:r>
              <a:rPr spc="-10" dirty="0"/>
              <a:t>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Submission </a:t>
            </a:r>
            <a:r>
              <a:rPr dirty="0"/>
              <a:t>—</a:t>
            </a:r>
            <a:r>
              <a:rPr spc="-5" dirty="0"/>
              <a:t> </a:t>
            </a:r>
            <a:r>
              <a:rPr dirty="0"/>
              <a:t>[</a:t>
            </a:r>
            <a:r>
              <a:rPr spc="-10" dirty="0"/>
              <a:t> Project </a:t>
            </a:r>
            <a:r>
              <a:rPr dirty="0"/>
              <a:t>/</a:t>
            </a:r>
            <a:r>
              <a:rPr spc="-5" dirty="0"/>
              <a:t> </a:t>
            </a:r>
            <a:r>
              <a:rPr spc="-20" dirty="0"/>
              <a:t>Team</a:t>
            </a:r>
            <a:r>
              <a:rPr spc="-10" dirty="0"/>
              <a:t> </a:t>
            </a:r>
            <a:r>
              <a:rPr dirty="0"/>
              <a:t>Name</a:t>
            </a:r>
            <a:r>
              <a:rPr spc="-10" dirty="0"/>
              <a:t> </a:t>
            </a:r>
            <a:r>
              <a:rPr spc="-50" dirty="0"/>
              <a:t>]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52841" y="4972685"/>
            <a:ext cx="133984" cy="114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707A7B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4561" y="175767"/>
            <a:ext cx="3654876" cy="292100"/>
          </a:xfrm>
        </p:spPr>
        <p:txBody>
          <a:bodyPr/>
          <a:p>
            <a:r>
              <a:rPr lang="en-IN">
                <a:sym typeface="+mn-ea"/>
              </a:rPr>
              <a:t>        </a:t>
            </a:r>
            <a:r>
              <a:rPr>
                <a:sym typeface="+mn-ea"/>
              </a:rPr>
              <a:t>HACKNEXT’26 SERIES 2.0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005" y="762635"/>
            <a:ext cx="8063865" cy="3820795"/>
          </a:xfrm>
        </p:spPr>
        <p:txBody>
          <a:bodyPr>
            <a:noAutofit/>
          </a:bodyPr>
          <a:p>
            <a:r>
              <a:rPr>
                <a:sym typeface="+mn-ea"/>
              </a:rPr>
              <a:t>RIPPLE: DISRUPTION-AWARE LOGISTICS RECOVERY</a:t>
            </a:r>
            <a:endParaRPr>
              <a:sym typeface="+mn-ea"/>
            </a:endParaRPr>
          </a:p>
          <a:p>
            <a:pPr>
              <a:spcAft>
                <a:spcPts val="200"/>
              </a:spcAft>
            </a:pPr>
            <a:r>
              <a:rPr>
                <a:sym typeface="+mn-ea"/>
              </a:rPr>
              <a:t>Problem Statement Title –</a:t>
            </a:r>
          </a:p>
          <a:p>
            <a:pPr>
              <a:spcAft>
                <a:spcPts val="200"/>
              </a:spcAft>
            </a:pPr>
            <a:r>
              <a:rPr>
                <a:sym typeface="+mn-ea"/>
              </a:rPr>
              <a:t>Disruption-Aware Logistics Planning</a:t>
            </a:r>
          </a:p>
          <a:p>
            <a:r>
              <a:rPr>
                <a:sym typeface="+mn-ea"/>
              </a:rPr>
              <a:t>Theme – Transportation &amp; Logistics</a:t>
            </a:r>
            <a:endParaRPr>
              <a:sym typeface="+mn-ea"/>
            </a:endParaRPr>
          </a:p>
          <a:p>
            <a:r>
              <a:rPr lang="en-IN">
                <a:latin typeface="Calibri" panose="020F0502020204030204"/>
                <a:cs typeface="Calibri" panose="020F0502020204030204"/>
              </a:rPr>
              <a:t>Team name : Error 404</a:t>
            </a:r>
            <a:endParaRPr>
              <a:latin typeface="Calibri" panose="020F0502020204030204"/>
              <a:cs typeface="Calibri" panose="020F0502020204030204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452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PROPOSED</a:t>
            </a:r>
            <a:r>
              <a:rPr spc="-30" dirty="0"/>
              <a:t> </a:t>
            </a:r>
            <a:r>
              <a:rPr spc="-10" dirty="0"/>
              <a:t>SOLUTION</a:t>
            </a:r>
            <a:endParaRPr spc="-10" dirty="0"/>
          </a:p>
        </p:txBody>
      </p:sp>
      <p:sp>
        <p:nvSpPr>
          <p:cNvPr id="5" name="object 5"/>
          <p:cNvSpPr/>
          <p:nvPr/>
        </p:nvSpPr>
        <p:spPr>
          <a:xfrm>
            <a:off x="205740" y="720090"/>
            <a:ext cx="8732520" cy="0"/>
          </a:xfrm>
          <a:custGeom>
            <a:avLst/>
            <a:gdLst/>
            <a:ahLst/>
            <a:cxnLst/>
            <a:rect l="l" t="t" r="r" b="b"/>
            <a:pathLst>
              <a:path w="8732520">
                <a:moveTo>
                  <a:pt x="0" y="0"/>
                </a:moveTo>
                <a:lnTo>
                  <a:pt x="8732291" y="0"/>
                </a:lnTo>
              </a:path>
            </a:pathLst>
          </a:custGeom>
          <a:ln w="15874">
            <a:solidFill>
              <a:srgbClr val="2C3E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22766" y="867028"/>
            <a:ext cx="1206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Problem</a:t>
            </a:r>
            <a:r>
              <a:rPr sz="1200" b="1" spc="-15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at</a:t>
            </a:r>
            <a:r>
              <a:rPr sz="1200" b="1" spc="-10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-20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Hand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81365" y="867028"/>
            <a:ext cx="911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96F3D"/>
                </a:solidFill>
                <a:latin typeface="Cambria" panose="02040503050406030204"/>
                <a:cs typeface="Cambria" panose="02040503050406030204"/>
              </a:rPr>
              <a:t>Our</a:t>
            </a:r>
            <a:r>
              <a:rPr sz="1200" b="1" spc="-25" dirty="0">
                <a:solidFill>
                  <a:srgbClr val="196F3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-10" dirty="0">
                <a:solidFill>
                  <a:srgbClr val="196F3D"/>
                </a:solidFill>
                <a:latin typeface="Cambria" panose="02040503050406030204"/>
                <a:cs typeface="Cambria" panose="02040503050406030204"/>
              </a:rPr>
              <a:t>Solution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21653" y="867028"/>
            <a:ext cx="923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Key</a:t>
            </a:r>
            <a:r>
              <a:rPr sz="1200" b="1" spc="-40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00" b="1" spc="-10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Features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740" y="1165860"/>
            <a:ext cx="2640330" cy="673100"/>
          </a:xfrm>
          <a:prstGeom prst="rect">
            <a:avLst/>
          </a:prstGeom>
          <a:solidFill>
            <a:srgbClr val="FDF9E7"/>
          </a:solidFill>
          <a:ln w="12699">
            <a:solidFill>
              <a:srgbClr val="D4AB0D"/>
            </a:solidFill>
          </a:ln>
        </p:spPr>
        <p:txBody>
          <a:bodyPr vert="horz" wrap="square" lIns="0" tIns="50800" rIns="0" bIns="0" rtlCol="0">
            <a:noAutofit/>
          </a:bodyPr>
          <a:lstStyle/>
          <a:p>
            <a:pPr marL="102870" marR="454660" algn="l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</a:pPr>
            <a:r>
              <a:rPr sz="750"/>
              <a:t>Core Problem: Disruptions such as road closures, breakdowns and changing delivery needs can cascade across connected routes, vehicles and orders. Teams struggle to quickly identify the full impact and choose a recovery action.</a:t>
            </a:r>
            <a:endParaRPr sz="8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40" y="1968500"/>
            <a:ext cx="2640330" cy="534670"/>
          </a:xfrm>
          <a:prstGeom prst="rect">
            <a:avLst/>
          </a:prstGeom>
          <a:solidFill>
            <a:srgbClr val="FADBD8"/>
          </a:solidFill>
          <a:ln w="12699">
            <a:solidFill>
              <a:srgbClr val="C0382B"/>
            </a:solidFill>
          </a:ln>
        </p:spPr>
        <p:txBody>
          <a:bodyPr vert="horz" wrap="square" lIns="0" tIns="50800" rIns="0" bIns="0" rtlCol="0">
            <a:noAutofit/>
          </a:bodyPr>
          <a:lstStyle/>
          <a:p>
            <a:pPr marL="102870" marR="117475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</a:pPr>
            <a:r>
              <a:rPr sz="750"/>
              <a:t>Gap in Existing Solutions: Basic tracking or rerouting alone may not show downstream delivery dependencies, business losses, or the trade-offs between multiple recovery plans.</a:t>
            </a:r>
            <a:endParaRPr sz="8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17520" y="1165860"/>
            <a:ext cx="2640330" cy="126619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vert="horz" wrap="square" lIns="0" tIns="34925" rIns="0" bIns="0" rtlCol="0">
            <a:noAutofit/>
          </a:bodyPr>
          <a:lstStyle/>
          <a:p>
            <a:pPr marL="137160">
              <a:lnSpc>
                <a:spcPct val="100000"/>
              </a:lnSpc>
              <a:spcBef>
                <a:spcPts val="5"/>
              </a:spcBef>
              <a:spcAft>
                <a:spcPts val="200"/>
              </a:spcAft>
            </a:pPr>
            <a:r>
              <a:rPr sz="800"/>
              <a:t>Ripple — a disruption-response system that maps operational dependencies, estimates business impact, predicts at-risk deliveries and compares feasible recovery plans that preserve as much of the original schedule as possible.</a:t>
            </a:r>
            <a:endParaRPr lang="en-US" sz="800" i="1" spc="-50" dirty="0">
              <a:solidFill>
                <a:schemeClr val="bg1"/>
              </a:solidFill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800"/>
              <a:t>Tagline: SEE THE RIPPLE. MEASURE THE LOSS. MAKE THE SMALLEST FEASIBLE FIX.</a:t>
            </a:r>
            <a:endParaRPr sz="800"/>
          </a:p>
        </p:txBody>
      </p:sp>
      <p:pic>
        <p:nvPicPr>
          <p:cNvPr id="16" name="object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29300" y="1200150"/>
            <a:ext cx="233171" cy="23317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07464" y="1239011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1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32068" y="1155953"/>
            <a:ext cx="1564132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750"/>
              <a:t>Ripple Impact Graph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Maps affected orders, vehicles, drivers and handoffs.</a:t>
            </a:r>
            <a:endParaRPr sz="750"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9300" y="1796795"/>
            <a:ext cx="233171" cy="23317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907464" y="1835658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2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132068" y="1752600"/>
            <a:ext cx="16517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750"/>
              <a:t>Business Impact Scoring</a:t>
            </a:r>
            <a:endParaRPr sz="800" b="1" dirty="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50"/>
              <a:t>Estimates delay, extra cost, penalties and revenue at risk.</a:t>
            </a:r>
            <a:endParaRPr sz="750"/>
          </a:p>
        </p:txBody>
      </p: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9300" y="2393442"/>
            <a:ext cx="233171" cy="23317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5907464" y="2432304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3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32068" y="2349246"/>
            <a:ext cx="178992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750"/>
              <a:t>Risk &amp; Priority Triage</a:t>
            </a:r>
            <a:endParaRPr sz="800" b="1" dirty="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50"/>
              <a:t>Ranks deliveries by urgency and likely business impact.</a:t>
            </a:r>
            <a:endParaRPr sz="750"/>
          </a:p>
        </p:txBody>
      </p:sp>
      <p:sp>
        <p:nvSpPr>
          <p:cNvPr id="13" name="object 13"/>
          <p:cNvSpPr txBox="1"/>
          <p:nvPr/>
        </p:nvSpPr>
        <p:spPr>
          <a:xfrm>
            <a:off x="3737344" y="2623947"/>
            <a:ext cx="12014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Why</a:t>
            </a:r>
            <a:r>
              <a:rPr sz="1100" b="1" spc="-35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 We</a:t>
            </a:r>
            <a:r>
              <a:rPr sz="1100" b="1" spc="-25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Stand</a:t>
            </a:r>
            <a:r>
              <a:rPr sz="1100" b="1" spc="-25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 Out</a:t>
            </a:r>
            <a:endParaRPr sz="11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740" y="2770632"/>
            <a:ext cx="2640330" cy="420628"/>
          </a:xfrm>
          <a:prstGeom prst="rect">
            <a:avLst/>
          </a:prstGeom>
          <a:solidFill>
            <a:srgbClr val="E7DAEE"/>
          </a:solidFill>
          <a:ln w="12699">
            <a:solidFill>
              <a:srgbClr val="6C3483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02870" marR="276225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</a:pPr>
            <a:r>
              <a:rPr sz="750"/>
              <a:t>Scale of the Problem: Logistics operations contain connected routes, vehicles, drivers, depots, delivery windows and customer commitments.</a:t>
            </a:r>
            <a:endParaRPr lang="en-US" sz="8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740" y="3573017"/>
            <a:ext cx="2640330" cy="420628"/>
          </a:xfrm>
          <a:prstGeom prst="rect">
            <a:avLst/>
          </a:prstGeom>
          <a:solidFill>
            <a:srgbClr val="D6EAF7"/>
          </a:solidFill>
          <a:ln w="12699">
            <a:solidFill>
              <a:srgbClr val="1F618D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102870" marR="329565">
              <a:lnSpc>
                <a:spcPct val="100000"/>
              </a:lnSpc>
              <a:spcBef>
                <a:spcPts val="400"/>
              </a:spcBef>
              <a:spcAft>
                <a:spcPts val="100"/>
              </a:spcAft>
            </a:pPr>
            <a:r>
              <a:rPr sz="750"/>
              <a:t>Consequence if Unsolved: Delayed decisions can increase penalties, fuel cost, missed delivery windows and customer dissatisfaction.</a:t>
            </a:r>
            <a:endParaRPr sz="8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17520" y="2880360"/>
            <a:ext cx="2640330" cy="598170"/>
          </a:xfrm>
          <a:prstGeom prst="rect">
            <a:avLst/>
          </a:prstGeom>
          <a:solidFill>
            <a:srgbClr val="FDF9E7"/>
          </a:solidFill>
          <a:ln w="12699">
            <a:solidFill>
              <a:srgbClr val="D4AB0D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234315" indent="-111125">
              <a:lnSpc>
                <a:spcPct val="100000"/>
              </a:lnSpc>
              <a:spcBef>
                <a:spcPts val="775"/>
              </a:spcBef>
              <a:spcAft>
                <a:spcPts val="100"/>
              </a:spcAft>
              <a:buChar char="•"/>
              <a:tabLst>
                <a:tab pos="234315" algn="l"/>
              </a:tabLst>
            </a:pPr>
            <a:r>
              <a:rPr sz="750"/>
              <a:t>Business-value recovery:</a:t>
            </a:r>
            <a:endParaRPr sz="750"/>
          </a:p>
          <a:p>
            <a:pPr>
              <a:spcAft>
                <a:spcPts val="100"/>
              </a:spcAft>
            </a:pPr>
            <a:r>
              <a:rPr sz="750"/>
              <a:t>Estimate penalties and revenue at risk.</a:t>
            </a:r>
            <a:endParaRPr sz="750"/>
          </a:p>
          <a:p>
            <a:pPr>
              <a:spcAft>
                <a:spcPts val="100"/>
              </a:spcAft>
            </a:pPr>
            <a:r>
              <a:rPr sz="750"/>
              <a:t>Compare extra cost, delay nd plan changes.</a:t>
            </a:r>
            <a:endParaRPr sz="750"/>
          </a:p>
          <a:p>
            <a:pPr>
              <a:spcAft>
                <a:spcPts val="100"/>
              </a:spcAft>
            </a:pPr>
            <a:r>
              <a:rPr sz="750"/>
              <a:t>Recommend the best feasible option.</a:t>
            </a:r>
            <a:endParaRPr sz="750"/>
          </a:p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29300" y="2990088"/>
            <a:ext cx="233171" cy="233171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907464" y="3028950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4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40634" y="2990088"/>
            <a:ext cx="164319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750"/>
              <a:t>Minimal-Change Re-planner</a:t>
            </a:r>
            <a:endParaRPr sz="800" b="1" dirty="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50"/>
              <a:t>Tests rerouting, reassignment, stop swaps and postponement.</a:t>
            </a:r>
            <a:endParaRPr sz="750"/>
          </a:p>
        </p:txBody>
      </p:sp>
      <p:pic>
        <p:nvPicPr>
          <p:cNvPr id="28" name="object 2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29300" y="3586734"/>
            <a:ext cx="233171" cy="233171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907464" y="3625596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5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132068" y="3542538"/>
            <a:ext cx="1564132" cy="2718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750"/>
              <a:t>What-if Comparison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Compares feasible options using cost, time, risk and value protected.</a:t>
            </a:r>
            <a:endParaRPr sz="750"/>
          </a:p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29300" y="4183379"/>
            <a:ext cx="233171" cy="23317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5907464" y="4222242"/>
            <a:ext cx="774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6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32068" y="4139184"/>
            <a:ext cx="194513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750"/>
              <a:t>Explainable Recommendation</a:t>
            </a:r>
            <a:endParaRPr sz="800" b="1" dirty="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50"/>
              <a:t>Shows why an option is preferred and drafts updated instructions.</a:t>
            </a:r>
            <a:endParaRPr sz="750"/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65"/>
              </a:lnSpc>
              <a:spcAft>
                <a:spcPts val="200"/>
              </a:spcAft>
            </a:pPr>
            <a:r>
              <a:t>HackNext’26 — Ripple Logistics Recovery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65699" y="175767"/>
            <a:ext cx="25882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85" dirty="0"/>
              <a:t> </a:t>
            </a:r>
            <a:r>
              <a:rPr spc="-10" dirty="0"/>
              <a:t>APPROACH</a:t>
            </a:r>
            <a:endParaRPr spc="-10" dirty="0"/>
          </a:p>
        </p:txBody>
      </p:sp>
      <p:sp>
        <p:nvSpPr>
          <p:cNvPr id="5" name="object 5"/>
          <p:cNvSpPr/>
          <p:nvPr/>
        </p:nvSpPr>
        <p:spPr>
          <a:xfrm>
            <a:off x="205740" y="720090"/>
            <a:ext cx="8732520" cy="0"/>
          </a:xfrm>
          <a:custGeom>
            <a:avLst/>
            <a:gdLst/>
            <a:ahLst/>
            <a:cxnLst/>
            <a:rect l="l" t="t" r="r" b="b"/>
            <a:pathLst>
              <a:path w="8732520">
                <a:moveTo>
                  <a:pt x="0" y="0"/>
                </a:moveTo>
                <a:lnTo>
                  <a:pt x="8732291" y="0"/>
                </a:lnTo>
              </a:path>
            </a:pathLst>
          </a:custGeom>
          <a:ln w="15874">
            <a:solidFill>
              <a:srgbClr val="2C3E5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577101" y="857250"/>
            <a:ext cx="1405890" cy="651510"/>
            <a:chOff x="577101" y="857250"/>
            <a:chExt cx="1405890" cy="651510"/>
          </a:xfrm>
        </p:grpSpPr>
        <p:sp>
          <p:nvSpPr>
            <p:cNvPr id="7" name="object 7"/>
            <p:cNvSpPr/>
            <p:nvPr/>
          </p:nvSpPr>
          <p:spPr>
            <a:xfrm>
              <a:off x="577101" y="857250"/>
              <a:ext cx="1405890" cy="651510"/>
            </a:xfrm>
            <a:custGeom>
              <a:avLst/>
              <a:gdLst/>
              <a:ahLst/>
              <a:cxnLst/>
              <a:rect l="l" t="t" r="r" b="b"/>
              <a:pathLst>
                <a:path w="1405889" h="651510">
                  <a:moveTo>
                    <a:pt x="1405889" y="651509"/>
                  </a:moveTo>
                  <a:lnTo>
                    <a:pt x="0" y="651509"/>
                  </a:lnTo>
                  <a:lnTo>
                    <a:pt x="0" y="0"/>
                  </a:lnTo>
                  <a:lnTo>
                    <a:pt x="1405889" y="0"/>
                  </a:lnTo>
                  <a:lnTo>
                    <a:pt x="1405889" y="651509"/>
                  </a:lnTo>
                  <a:close/>
                </a:path>
              </a:pathLst>
            </a:custGeom>
            <a:solidFill>
              <a:srgbClr val="D6EA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45681" y="925830"/>
              <a:ext cx="192023" cy="19202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77101" y="857250"/>
            <a:ext cx="1405890" cy="651510"/>
          </a:xfrm>
          <a:prstGeom prst="rect">
            <a:avLst/>
          </a:prstGeom>
          <a:ln w="15874">
            <a:solidFill>
              <a:srgbClr val="1F618D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80"/>
              </a:spcBef>
              <a:spcAft>
                <a:spcPts val="200"/>
              </a:spcAft>
            </a:pPr>
            <a:r>
              <a:rPr sz="800"/>
              <a:t>1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800"/>
              <a:t>DISRUPTION INPUT</a:t>
            </a:r>
            <a:endParaRPr sz="800"/>
          </a:p>
        </p:txBody>
      </p:sp>
      <p:sp>
        <p:nvSpPr>
          <p:cNvPr id="10" name="object 10"/>
          <p:cNvSpPr txBox="1"/>
          <p:nvPr/>
        </p:nvSpPr>
        <p:spPr>
          <a:xfrm>
            <a:off x="2001455" y="1056513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2C3E50"/>
                </a:solidFill>
                <a:latin typeface="Arial" panose="020B0604020202020204"/>
                <a:cs typeface="Arial" panose="020B0604020202020204"/>
              </a:rPr>
              <a:t>→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223020" y="857250"/>
            <a:ext cx="1405890" cy="651510"/>
            <a:chOff x="2223020" y="857250"/>
            <a:chExt cx="1405890" cy="651510"/>
          </a:xfrm>
        </p:grpSpPr>
        <p:sp>
          <p:nvSpPr>
            <p:cNvPr id="12" name="object 12"/>
            <p:cNvSpPr/>
            <p:nvPr/>
          </p:nvSpPr>
          <p:spPr>
            <a:xfrm>
              <a:off x="2223020" y="857250"/>
              <a:ext cx="1405890" cy="651510"/>
            </a:xfrm>
            <a:custGeom>
              <a:avLst/>
              <a:gdLst/>
              <a:ahLst/>
              <a:cxnLst/>
              <a:rect l="l" t="t" r="r" b="b"/>
              <a:pathLst>
                <a:path w="1405889" h="651510">
                  <a:moveTo>
                    <a:pt x="1405889" y="651509"/>
                  </a:moveTo>
                  <a:lnTo>
                    <a:pt x="0" y="651509"/>
                  </a:lnTo>
                  <a:lnTo>
                    <a:pt x="0" y="0"/>
                  </a:lnTo>
                  <a:lnTo>
                    <a:pt x="1405889" y="0"/>
                  </a:lnTo>
                  <a:lnTo>
                    <a:pt x="1405889" y="651509"/>
                  </a:lnTo>
                  <a:close/>
                </a:path>
              </a:pathLst>
            </a:custGeom>
            <a:solidFill>
              <a:srgbClr val="D6EA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91600" y="925830"/>
              <a:ext cx="192023" cy="19202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223020" y="857250"/>
            <a:ext cx="1405890" cy="651510"/>
          </a:xfrm>
          <a:prstGeom prst="rect">
            <a:avLst/>
          </a:prstGeom>
          <a:ln w="15874">
            <a:solidFill>
              <a:srgbClr val="196F3D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80"/>
              </a:spcBef>
              <a:spcAft>
                <a:spcPts val="200"/>
              </a:spcAft>
            </a:pPr>
            <a:r>
              <a:rPr sz="800"/>
              <a:t>2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800"/>
              <a:t>IMPACT ANALYSIS</a:t>
            </a:r>
            <a:endParaRPr sz="800"/>
          </a:p>
        </p:txBody>
      </p:sp>
      <p:sp>
        <p:nvSpPr>
          <p:cNvPr id="15" name="object 15"/>
          <p:cNvSpPr txBox="1"/>
          <p:nvPr/>
        </p:nvSpPr>
        <p:spPr>
          <a:xfrm>
            <a:off x="3647375" y="1056513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2C3E50"/>
                </a:solidFill>
                <a:latin typeface="Arial" panose="020B0604020202020204"/>
                <a:cs typeface="Arial" panose="020B0604020202020204"/>
              </a:rPr>
              <a:t>→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868940" y="857250"/>
            <a:ext cx="1405890" cy="651510"/>
            <a:chOff x="3868940" y="857250"/>
            <a:chExt cx="1405890" cy="651510"/>
          </a:xfrm>
        </p:grpSpPr>
        <p:sp>
          <p:nvSpPr>
            <p:cNvPr id="17" name="object 17"/>
            <p:cNvSpPr/>
            <p:nvPr/>
          </p:nvSpPr>
          <p:spPr>
            <a:xfrm>
              <a:off x="3868940" y="857250"/>
              <a:ext cx="1405890" cy="651510"/>
            </a:xfrm>
            <a:custGeom>
              <a:avLst/>
              <a:gdLst/>
              <a:ahLst/>
              <a:cxnLst/>
              <a:rect l="l" t="t" r="r" b="b"/>
              <a:pathLst>
                <a:path w="1405889" h="651510">
                  <a:moveTo>
                    <a:pt x="1405889" y="651509"/>
                  </a:moveTo>
                  <a:lnTo>
                    <a:pt x="0" y="651509"/>
                  </a:lnTo>
                  <a:lnTo>
                    <a:pt x="0" y="0"/>
                  </a:lnTo>
                  <a:lnTo>
                    <a:pt x="1405889" y="0"/>
                  </a:lnTo>
                  <a:lnTo>
                    <a:pt x="1405889" y="651509"/>
                  </a:lnTo>
                  <a:close/>
                </a:path>
              </a:pathLst>
            </a:custGeom>
            <a:solidFill>
              <a:srgbClr val="D6EA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37520" y="925830"/>
              <a:ext cx="192023" cy="19202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3868940" y="857250"/>
            <a:ext cx="1405890" cy="651510"/>
          </a:xfrm>
          <a:prstGeom prst="rect">
            <a:avLst/>
          </a:prstGeom>
          <a:ln w="15874">
            <a:solidFill>
              <a:srgbClr val="CA6F1E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80"/>
              </a:spcBef>
              <a:spcAft>
                <a:spcPts val="200"/>
              </a:spcAft>
            </a:pPr>
            <a:r>
              <a:rPr sz="800"/>
              <a:t>3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800"/>
              <a:t>RISK + OPTIMIZER</a:t>
            </a:r>
            <a:endParaRPr sz="800"/>
          </a:p>
        </p:txBody>
      </p:sp>
      <p:sp>
        <p:nvSpPr>
          <p:cNvPr id="20" name="object 20"/>
          <p:cNvSpPr txBox="1"/>
          <p:nvPr/>
        </p:nvSpPr>
        <p:spPr>
          <a:xfrm>
            <a:off x="5293295" y="1056513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2C3E50"/>
                </a:solidFill>
                <a:latin typeface="Arial" panose="020B0604020202020204"/>
                <a:cs typeface="Arial" panose="020B0604020202020204"/>
              </a:rPr>
              <a:t>→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514861" y="857250"/>
            <a:ext cx="1405890" cy="651510"/>
            <a:chOff x="5514861" y="857250"/>
            <a:chExt cx="1405890" cy="651510"/>
          </a:xfrm>
        </p:grpSpPr>
        <p:sp>
          <p:nvSpPr>
            <p:cNvPr id="22" name="object 22"/>
            <p:cNvSpPr/>
            <p:nvPr/>
          </p:nvSpPr>
          <p:spPr>
            <a:xfrm>
              <a:off x="5514861" y="857250"/>
              <a:ext cx="1405890" cy="651510"/>
            </a:xfrm>
            <a:custGeom>
              <a:avLst/>
              <a:gdLst/>
              <a:ahLst/>
              <a:cxnLst/>
              <a:rect l="l" t="t" r="r" b="b"/>
              <a:pathLst>
                <a:path w="1405890" h="651510">
                  <a:moveTo>
                    <a:pt x="1405889" y="651509"/>
                  </a:moveTo>
                  <a:lnTo>
                    <a:pt x="0" y="651509"/>
                  </a:lnTo>
                  <a:lnTo>
                    <a:pt x="0" y="0"/>
                  </a:lnTo>
                  <a:lnTo>
                    <a:pt x="1405889" y="0"/>
                  </a:lnTo>
                  <a:lnTo>
                    <a:pt x="1405889" y="651509"/>
                  </a:lnTo>
                  <a:close/>
                </a:path>
              </a:pathLst>
            </a:custGeom>
            <a:solidFill>
              <a:srgbClr val="D6EA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3441" y="925830"/>
              <a:ext cx="192023" cy="19202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5514861" y="857250"/>
            <a:ext cx="1405890" cy="651510"/>
          </a:xfrm>
          <a:prstGeom prst="rect">
            <a:avLst/>
          </a:prstGeom>
          <a:ln w="15874">
            <a:solidFill>
              <a:srgbClr val="6C3483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80"/>
              </a:spcBef>
              <a:spcAft>
                <a:spcPts val="200"/>
              </a:spcAft>
            </a:pPr>
            <a:r>
              <a:rPr sz="800"/>
              <a:t>4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800"/>
              <a:t>OPTION COMPARISON</a:t>
            </a:r>
            <a:endParaRPr sz="800"/>
          </a:p>
        </p:txBody>
      </p:sp>
      <p:sp>
        <p:nvSpPr>
          <p:cNvPr id="25" name="object 25"/>
          <p:cNvSpPr txBox="1"/>
          <p:nvPr/>
        </p:nvSpPr>
        <p:spPr>
          <a:xfrm>
            <a:off x="6939215" y="1056513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2C3E50"/>
                </a:solidFill>
                <a:latin typeface="Arial" panose="020B0604020202020204"/>
                <a:cs typeface="Arial" panose="020B0604020202020204"/>
              </a:rPr>
              <a:t>→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160781" y="857250"/>
            <a:ext cx="1405890" cy="651510"/>
            <a:chOff x="7160781" y="857250"/>
            <a:chExt cx="1405890" cy="651510"/>
          </a:xfrm>
        </p:grpSpPr>
        <p:sp>
          <p:nvSpPr>
            <p:cNvPr id="27" name="object 27"/>
            <p:cNvSpPr/>
            <p:nvPr/>
          </p:nvSpPr>
          <p:spPr>
            <a:xfrm>
              <a:off x="7160781" y="857250"/>
              <a:ext cx="1405890" cy="651510"/>
            </a:xfrm>
            <a:custGeom>
              <a:avLst/>
              <a:gdLst/>
              <a:ahLst/>
              <a:cxnLst/>
              <a:rect l="l" t="t" r="r" b="b"/>
              <a:pathLst>
                <a:path w="1405890" h="651510">
                  <a:moveTo>
                    <a:pt x="1405889" y="651509"/>
                  </a:moveTo>
                  <a:lnTo>
                    <a:pt x="0" y="651509"/>
                  </a:lnTo>
                  <a:lnTo>
                    <a:pt x="0" y="0"/>
                  </a:lnTo>
                  <a:lnTo>
                    <a:pt x="1405889" y="0"/>
                  </a:lnTo>
                  <a:lnTo>
                    <a:pt x="1405889" y="651509"/>
                  </a:lnTo>
                  <a:close/>
                </a:path>
              </a:pathLst>
            </a:custGeom>
            <a:solidFill>
              <a:srgbClr val="D6EA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9361" y="925830"/>
              <a:ext cx="192023" cy="19202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160781" y="857250"/>
            <a:ext cx="1405890" cy="651510"/>
          </a:xfrm>
          <a:prstGeom prst="rect">
            <a:avLst/>
          </a:prstGeom>
          <a:ln w="15874">
            <a:solidFill>
              <a:srgbClr val="C0382B"/>
            </a:solidFill>
          </a:ln>
        </p:spPr>
        <p:txBody>
          <a:bodyPr vert="horz" wrap="square" lIns="0" tIns="99060" rIns="0" bIns="0" rtlCol="0">
            <a:spAutoFit/>
          </a:bodyPr>
          <a:lstStyle/>
          <a:p>
            <a:pPr marL="138430">
              <a:lnSpc>
                <a:spcPct val="100000"/>
              </a:lnSpc>
              <a:spcBef>
                <a:spcPts val="780"/>
              </a:spcBef>
              <a:spcAft>
                <a:spcPts val="200"/>
              </a:spcAft>
            </a:pPr>
            <a:r>
              <a:rPr sz="800"/>
              <a:t>5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800"/>
              <a:t>APPROVED PLAN</a:t>
            </a:r>
            <a:endParaRPr sz="800"/>
          </a:p>
        </p:txBody>
      </p:sp>
      <p:sp>
        <p:nvSpPr>
          <p:cNvPr id="30" name="object 30"/>
          <p:cNvSpPr txBox="1"/>
          <p:nvPr/>
        </p:nvSpPr>
        <p:spPr>
          <a:xfrm>
            <a:off x="1819140" y="1588770"/>
            <a:ext cx="550672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750"/>
              <a:t>System flow: incident input → dependency graph → loss/risk scoring → minimum-change recovery solver → business-value comparison → operator-approved plan.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5740" y="1885950"/>
            <a:ext cx="2773680" cy="670560"/>
          </a:xfrm>
          <a:prstGeom prst="rect">
            <a:avLst/>
          </a:prstGeom>
          <a:solidFill>
            <a:srgbClr val="FDF9E7"/>
          </a:solidFill>
          <a:ln w="12699">
            <a:solidFill>
              <a:srgbClr val="D4AB0D"/>
            </a:solidFill>
          </a:ln>
        </p:spPr>
        <p:txBody>
          <a:bodyPr vert="horz" wrap="square" lIns="0" tIns="107314" rIns="0" bIns="0" rtlCol="0">
            <a:noAutofit/>
          </a:bodyPr>
          <a:lstStyle/>
          <a:p>
            <a:pPr marL="102870">
              <a:lnSpc>
                <a:spcPct val="100000"/>
              </a:lnSpc>
              <a:spcBef>
                <a:spcPts val="845"/>
              </a:spcBef>
              <a:spcAft>
                <a:spcPts val="200"/>
              </a:spcAft>
            </a:pPr>
            <a:r>
              <a:rPr sz="750"/>
              <a:t>Tech Stack</a:t>
            </a:r>
            <a:endParaRPr sz="1000" dirty="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50"/>
              <a:t>React dashboard; Python + FastAPI; NetworkX for dependency graph; Google OR-Tools for feasible recovery options; Leaflet/OpenStreetMap for route display.</a:t>
            </a:r>
            <a:endParaRPr sz="750"/>
          </a:p>
        </p:txBody>
      </p:sp>
      <p:sp>
        <p:nvSpPr>
          <p:cNvPr id="32" name="object 32"/>
          <p:cNvSpPr txBox="1"/>
          <p:nvPr/>
        </p:nvSpPr>
        <p:spPr>
          <a:xfrm>
            <a:off x="3185083" y="1885950"/>
            <a:ext cx="2773680" cy="826507"/>
          </a:xfrm>
          <a:prstGeom prst="rect">
            <a:avLst/>
          </a:prstGeom>
          <a:solidFill>
            <a:srgbClr val="D6EAF7"/>
          </a:solidFill>
          <a:ln w="12699">
            <a:solidFill>
              <a:srgbClr val="1F618D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845"/>
              </a:spcBef>
              <a:spcAft>
                <a:spcPts val="200"/>
              </a:spcAft>
            </a:pPr>
            <a:r>
              <a:rPr sz="750"/>
              <a:t>Connectivity &amp; Security</a:t>
            </a:r>
            <a:endParaRPr lang="en-US" sz="800" b="1" spc="-10" dirty="0">
              <a:solidFill>
                <a:srgbClr val="1F618D"/>
              </a:solidFill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50"/>
              <a:t>Prototype uses a controlled sample dataset and manual/API incident input. Apply role-based access, protect customer data, and require operator approval before applying changes.</a:t>
            </a:r>
            <a:endParaRPr sz="750"/>
          </a:p>
        </p:txBody>
      </p:sp>
      <p:sp>
        <p:nvSpPr>
          <p:cNvPr id="33" name="object 33"/>
          <p:cNvSpPr txBox="1"/>
          <p:nvPr/>
        </p:nvSpPr>
        <p:spPr>
          <a:xfrm>
            <a:off x="6164427" y="1885950"/>
            <a:ext cx="2773680" cy="1303020"/>
          </a:xfrm>
          <a:prstGeom prst="rect">
            <a:avLst/>
          </a:prstGeom>
          <a:solidFill>
            <a:srgbClr val="D4F4E3"/>
          </a:solidFill>
          <a:ln w="12699">
            <a:solidFill>
              <a:srgbClr val="196F3D"/>
            </a:solidFill>
          </a:ln>
        </p:spPr>
        <p:txBody>
          <a:bodyPr vert="horz" wrap="square" lIns="0" tIns="107314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845"/>
              </a:spcBef>
              <a:spcAft>
                <a:spcPts val="200"/>
              </a:spcAft>
            </a:pPr>
            <a:r>
              <a:rPr sz="750"/>
              <a:t>Product Status</a:t>
            </a:r>
            <a:endParaRPr sz="100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50"/>
              <a:t>Concept / prototype in development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Planned: simulated fleet, disruption trigger, impact graph and recovery comparison.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Demo: use a reproducible sample scenario.</a:t>
            </a:r>
            <a:endParaRPr sz="750"/>
          </a:p>
        </p:txBody>
      </p:sp>
      <p:sp>
        <p:nvSpPr>
          <p:cNvPr id="34" name="object 34"/>
          <p:cNvSpPr txBox="1"/>
          <p:nvPr/>
        </p:nvSpPr>
        <p:spPr>
          <a:xfrm>
            <a:off x="3221374" y="3352165"/>
            <a:ext cx="27012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800"/>
              <a:t>Prototype Demo — Disruption Recovery</a:t>
            </a:r>
            <a:endParaRPr sz="1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05740" y="3566159"/>
            <a:ext cx="1783080" cy="1234440"/>
          </a:xfrm>
          <a:prstGeom prst="rect">
            <a:avLst/>
          </a:prstGeom>
          <a:solidFill>
            <a:srgbClr val="F4F6F6"/>
          </a:solidFill>
          <a:ln w="12699">
            <a:solidFill>
              <a:srgbClr val="D4D8D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700"/>
              <a:t>Prototype screen: incident → affected deliveries → ranked recovery options</a:t>
            </a:r>
            <a:endParaRPr sz="7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194560" y="3566159"/>
            <a:ext cx="1583055" cy="1234440"/>
          </a:xfrm>
          <a:prstGeom prst="rect">
            <a:avLst/>
          </a:prstGeom>
          <a:solidFill>
            <a:srgbClr val="EBF4FA"/>
          </a:solidFill>
          <a:ln w="12699">
            <a:solidFill>
              <a:srgbClr val="1F618D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75"/>
              </a:spcBef>
              <a:spcAft>
                <a:spcPts val="200"/>
              </a:spcAft>
            </a:pPr>
            <a:r>
              <a:rPr sz="700"/>
              <a:t>Live Data</a:t>
            </a:r>
            <a:endParaRPr sz="80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00"/>
              <a:t>Sample vehicles, orders, deadlines and route data.</a:t>
            </a:r>
            <a:endParaRPr sz="700"/>
          </a:p>
        </p:txBody>
      </p:sp>
      <p:sp>
        <p:nvSpPr>
          <p:cNvPr id="37" name="object 37"/>
          <p:cNvSpPr txBox="1"/>
          <p:nvPr/>
        </p:nvSpPr>
        <p:spPr>
          <a:xfrm>
            <a:off x="3914718" y="3566159"/>
            <a:ext cx="1583055" cy="1234440"/>
          </a:xfrm>
          <a:prstGeom prst="rect">
            <a:avLst/>
          </a:prstGeom>
          <a:solidFill>
            <a:srgbClr val="EBF4FA"/>
          </a:solidFill>
          <a:ln w="12699">
            <a:solidFill>
              <a:srgbClr val="1F618D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75"/>
              </a:spcBef>
              <a:spcAft>
                <a:spcPts val="200"/>
              </a:spcAft>
            </a:pPr>
            <a:r>
              <a:rPr sz="700"/>
              <a:t>Alerts / Trends</a:t>
            </a:r>
            <a:endParaRPr sz="80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00"/>
              <a:t>Critical deliveries and rising delay risk.</a:t>
            </a:r>
            <a:endParaRPr sz="700"/>
          </a:p>
        </p:txBody>
      </p:sp>
      <p:sp>
        <p:nvSpPr>
          <p:cNvPr id="38" name="object 38"/>
          <p:cNvSpPr txBox="1"/>
          <p:nvPr/>
        </p:nvSpPr>
        <p:spPr>
          <a:xfrm>
            <a:off x="5634876" y="3566159"/>
            <a:ext cx="1583055" cy="1234440"/>
          </a:xfrm>
          <a:prstGeom prst="rect">
            <a:avLst/>
          </a:prstGeom>
          <a:solidFill>
            <a:srgbClr val="EBF4FA"/>
          </a:solidFill>
          <a:ln w="12699">
            <a:solidFill>
              <a:srgbClr val="1F618D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675"/>
              </a:spcBef>
              <a:spcAft>
                <a:spcPts val="200"/>
              </a:spcAft>
            </a:pPr>
            <a:r>
              <a:rPr sz="700"/>
              <a:t>System Status</a:t>
            </a:r>
            <a:endParaRPr sz="80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00"/>
              <a:t>Incident, affected nodes and plan feasibility.</a:t>
            </a:r>
            <a:endParaRPr sz="700"/>
          </a:p>
        </p:txBody>
      </p:sp>
      <p:sp>
        <p:nvSpPr>
          <p:cNvPr id="39" name="object 39"/>
          <p:cNvSpPr txBox="1"/>
          <p:nvPr/>
        </p:nvSpPr>
        <p:spPr>
          <a:xfrm>
            <a:off x="7355033" y="3566159"/>
            <a:ext cx="1583055" cy="1234440"/>
          </a:xfrm>
          <a:prstGeom prst="rect">
            <a:avLst/>
          </a:prstGeom>
          <a:solidFill>
            <a:srgbClr val="EBF4FA"/>
          </a:solidFill>
          <a:ln w="12699">
            <a:solidFill>
              <a:srgbClr val="1F618D"/>
            </a:solidFill>
          </a:ln>
        </p:spPr>
        <p:txBody>
          <a:bodyPr vert="horz" wrap="square" lIns="0" tIns="85725" rIns="0" bIns="0" rtlCol="0">
            <a:spAutoFit/>
          </a:bodyPr>
          <a:lstStyle/>
          <a:p>
            <a:pPr marL="67945">
              <a:lnSpc>
                <a:spcPct val="100000"/>
              </a:lnSpc>
              <a:spcBef>
                <a:spcPts val="675"/>
              </a:spcBef>
              <a:spcAft>
                <a:spcPts val="200"/>
              </a:spcAft>
            </a:pPr>
            <a:r>
              <a:rPr sz="700"/>
              <a:t>Scalability</a:t>
            </a:r>
            <a:endParaRPr sz="80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00"/>
              <a:t>Start with simulated fleet; extend to live fleet and traffic feeds.</a:t>
            </a:r>
            <a:endParaRPr sz="700"/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65"/>
              </a:lnSpc>
              <a:spcAft>
                <a:spcPts val="200"/>
              </a:spcAft>
            </a:pPr>
            <a:r>
              <a:t>HackNext’26 — Ripple Logistics Recovery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976503" y="175767"/>
            <a:ext cx="316611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FEASIBILITY </a:t>
            </a:r>
            <a:r>
              <a:rPr sz="1900" b="1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900" b="1" spc="-5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b="1" spc="-1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VIABILITY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740" y="720090"/>
            <a:ext cx="8732520" cy="0"/>
          </a:xfrm>
          <a:custGeom>
            <a:avLst/>
            <a:gdLst/>
            <a:ahLst/>
            <a:cxnLst/>
            <a:rect l="l" t="t" r="r" b="b"/>
            <a:pathLst>
              <a:path w="8732520">
                <a:moveTo>
                  <a:pt x="0" y="0"/>
                </a:moveTo>
                <a:lnTo>
                  <a:pt x="8732291" y="0"/>
                </a:lnTo>
              </a:path>
            </a:pathLst>
          </a:custGeom>
          <a:ln w="15874">
            <a:solidFill>
              <a:srgbClr val="2C3E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8811" y="883284"/>
            <a:ext cx="12141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Technical</a:t>
            </a:r>
            <a:r>
              <a:rPr sz="1000" b="1" spc="10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b="1" spc="-10" dirty="0">
                <a:solidFill>
                  <a:srgbClr val="CA6F1E"/>
                </a:solidFill>
                <a:latin typeface="Cambria" panose="02040503050406030204"/>
                <a:cs typeface="Cambria" panose="02040503050406030204"/>
              </a:rPr>
              <a:t>Feasibility</a:t>
            </a:r>
            <a:endParaRPr sz="1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6644" y="883284"/>
            <a:ext cx="133032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Economical Feasibility</a:t>
            </a:r>
            <a:endParaRPr sz="1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16426" y="883284"/>
            <a:ext cx="12827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Maintenance</a:t>
            </a:r>
            <a:r>
              <a:rPr sz="1000" b="1" spc="20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b="1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&amp;</a:t>
            </a:r>
            <a:r>
              <a:rPr sz="1000" b="1" spc="20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b="1" spc="-10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Safety</a:t>
            </a:r>
            <a:endParaRPr sz="1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740" y="1131569"/>
            <a:ext cx="2160270" cy="1374094"/>
          </a:xfrm>
          <a:prstGeom prst="rect">
            <a:avLst/>
          </a:prstGeom>
          <a:solidFill>
            <a:srgbClr val="FDF9E7"/>
          </a:solidFill>
          <a:ln w="12699">
            <a:solidFill>
              <a:srgbClr val="D4AB0D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213995" marR="123825" indent="-111125">
              <a:lnSpc>
                <a:spcPct val="100000"/>
              </a:lnSpc>
              <a:spcBef>
                <a:spcPts val="615"/>
              </a:spcBef>
              <a:spcAft>
                <a:spcPts val="200"/>
              </a:spcAft>
              <a:buChar char="•"/>
              <a:tabLst>
                <a:tab pos="217170" algn="l"/>
              </a:tabLst>
            </a:pPr>
            <a:r>
              <a:rPr sz="720"/>
              <a:t>Technical Feasibility</a:t>
            </a:r>
            <a:endParaRPr sz="800" dirty="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20"/>
              <a:t>Built with established graph algorithms and constraint optimization. Main risks: inaccurate incident data, incomplete dependency links, unrealistic travel-time estimates and infeasible vehicle/time-window constraints. Validate against repeatable test scenarios.</a:t>
            </a:r>
            <a:endParaRPr sz="720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6345" y="1095375"/>
          <a:ext cx="3985895" cy="1440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5090"/>
                <a:gridCol w="1315720"/>
                <a:gridCol w="1315085"/>
              </a:tblGrid>
              <a:tr h="178435">
                <a:tc>
                  <a:txBody>
                    <a:bodyPr/>
                    <a:lstStyle/>
                    <a:p>
                      <a:r>
                        <a:rPr sz="900"/>
                        <a:t>Parameter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  <a:solidFill>
                      <a:srgbClr val="14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Basic response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  <a:solidFill>
                      <a:srgbClr val="14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Ripple approach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  <a:solidFill>
                      <a:srgbClr val="144360"/>
                    </a:solidFill>
                  </a:tcPr>
                </a:tc>
              </a:tr>
              <a:tr h="315595">
                <a:tc>
                  <a:txBody>
                    <a:bodyPr/>
                    <a:lstStyle/>
                    <a:p>
                      <a:r>
                        <a:rPr sz="900"/>
                        <a:t>Decision basis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Route / delay view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Dependencies + business impact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r>
                        <a:rPr sz="900"/>
                        <a:t>Recovery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Manual or single action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Compare feasible alternatives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r>
                        <a:rPr sz="900"/>
                        <a:t>Plan changes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May rework many stops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Penalty for changing original plan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</a:tr>
              <a:tr h="315595">
                <a:tc>
                  <a:txBody>
                    <a:bodyPr/>
                    <a:lstStyle/>
                    <a:p>
                      <a:r>
                        <a:rPr sz="900"/>
                        <a:t>Evaluation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Time / distance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Cost, delay, risk, value protected</a:t>
                      </a:r>
                      <a:endParaRPr sz="900"/>
                    </a:p>
                  </a:txBody>
                  <a:tcPr marL="0" marR="0" marT="41275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6777760" y="1131569"/>
            <a:ext cx="2160270" cy="1127873"/>
          </a:xfrm>
          <a:prstGeom prst="rect">
            <a:avLst/>
          </a:prstGeom>
          <a:solidFill>
            <a:srgbClr val="D6EAF7"/>
          </a:solidFill>
          <a:ln w="12699">
            <a:solidFill>
              <a:srgbClr val="1F618D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213995" marR="98425" indent="-111125">
              <a:lnSpc>
                <a:spcPct val="100000"/>
              </a:lnSpc>
              <a:spcBef>
                <a:spcPts val="615"/>
              </a:spcBef>
              <a:buChar char="•"/>
              <a:tabLst>
                <a:tab pos="217170" algn="l"/>
              </a:tabLst>
            </a:pPr>
            <a:r>
              <a:rPr lang="en-US" sz="720" dirty="0">
                <a:latin typeface="Calibri" panose="020F0502020204030204"/>
                <a:cs typeface="Calibri" panose="020F0502020204030204"/>
              </a:rPr>
              <a:t> Maintenance: Simple mechanical construction allows straightforward inspection, servicing, and replacement of cables, pulleys, and fasteners.</a:t>
            </a:r>
            <a:endParaRPr sz="800" dirty="0">
              <a:latin typeface="Calibri" panose="020F0502020204030204"/>
              <a:cs typeface="Calibri" panose="020F0502020204030204"/>
            </a:endParaRPr>
          </a:p>
          <a:p>
            <a:pPr marL="213995" indent="-111125">
              <a:lnSpc>
                <a:spcPct val="100000"/>
              </a:lnSpc>
              <a:spcBef>
                <a:spcPts val="500"/>
              </a:spcBef>
              <a:buChar char="•"/>
              <a:tabLst>
                <a:tab pos="213995" algn="l"/>
              </a:tabLst>
            </a:pPr>
            <a:r>
              <a:rPr lang="en-US" sz="720" dirty="0">
                <a:latin typeface="Calibri" panose="020F0502020204030204"/>
                <a:cs typeface="Calibri" panose="020F0502020204030204"/>
              </a:rPr>
              <a:t> Safety measures (planned, not yet validated): rated components, regular inspection routine, properly fitted 4-point sling, stable base with locking mechanism during rotation.</a:t>
            </a:r>
            <a:endParaRPr sz="800" dirty="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3909" y="2728344"/>
            <a:ext cx="2060287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6C3483"/>
                </a:solidFill>
                <a:latin typeface="Cambria" panose="02040503050406030204"/>
                <a:cs typeface="Cambria" panose="02040503050406030204"/>
              </a:rPr>
              <a:t>Economic </a:t>
            </a:r>
            <a:r>
              <a:rPr sz="1000" b="1" dirty="0">
                <a:solidFill>
                  <a:srgbClr val="6C3483"/>
                </a:solidFill>
                <a:latin typeface="Cambria" panose="02040503050406030204"/>
                <a:cs typeface="Cambria" panose="02040503050406030204"/>
              </a:rPr>
              <a:t>&amp;</a:t>
            </a:r>
            <a:r>
              <a:rPr sz="1000" b="1" spc="-10" dirty="0">
                <a:solidFill>
                  <a:srgbClr val="6C3483"/>
                </a:solidFill>
                <a:latin typeface="Cambria" panose="02040503050406030204"/>
                <a:cs typeface="Cambria" panose="02040503050406030204"/>
              </a:rPr>
              <a:t> Operational Viability</a:t>
            </a:r>
            <a:endParaRPr sz="1000" dirty="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28904" y="2495550"/>
            <a:ext cx="14941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Implementation</a:t>
            </a:r>
            <a:r>
              <a:rPr sz="1000" b="1" spc="7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b="1" spc="-1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Viability</a:t>
            </a:r>
            <a:endParaRPr sz="1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148985" y="2357755"/>
            <a:ext cx="14179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10" dirty="0">
                <a:solidFill>
                  <a:srgbClr val="196F3D"/>
                </a:solidFill>
                <a:latin typeface="Cambria" panose="02040503050406030204"/>
                <a:cs typeface="Cambria" panose="02040503050406030204"/>
              </a:rPr>
              <a:t>Environmental</a:t>
            </a:r>
            <a:r>
              <a:rPr sz="1000" b="1" spc="25" dirty="0">
                <a:solidFill>
                  <a:srgbClr val="196F3D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b="1" spc="-10" dirty="0">
                <a:solidFill>
                  <a:srgbClr val="196F3D"/>
                </a:solidFill>
                <a:latin typeface="Cambria" panose="02040503050406030204"/>
                <a:cs typeface="Cambria" panose="02040503050406030204"/>
              </a:rPr>
              <a:t>Viability</a:t>
            </a:r>
            <a:endParaRPr sz="1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5740" y="2957196"/>
            <a:ext cx="2160270" cy="1303020"/>
          </a:xfrm>
          <a:prstGeom prst="rect">
            <a:avLst/>
          </a:prstGeom>
          <a:solidFill>
            <a:srgbClr val="FCEBD0"/>
          </a:solidFill>
          <a:ln w="12699">
            <a:solidFill>
              <a:srgbClr val="CA6F1E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213995" indent="-111125">
              <a:lnSpc>
                <a:spcPct val="100000"/>
              </a:lnSpc>
              <a:spcBef>
                <a:spcPts val="615"/>
              </a:spcBef>
              <a:spcAft>
                <a:spcPts val="200"/>
              </a:spcAft>
              <a:buChar char="•"/>
              <a:tabLst>
                <a:tab pos="213995" algn="l"/>
              </a:tabLst>
            </a:pPr>
            <a:r>
              <a:rPr sz="750"/>
              <a:t>Cost: software prototype can use open-source tools and simulated data.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50"/>
              <a:t>Value model: estimate avoided penalties + revenue protected − added recovery cost.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Operational use: a dispatcher reviews options and approves the plan.</a:t>
            </a:r>
            <a:endParaRPr sz="750"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498407" y="2704147"/>
          <a:ext cx="4137025" cy="15201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4810"/>
                <a:gridCol w="2482215"/>
              </a:tblGrid>
              <a:tr h="260350">
                <a:tc>
                  <a:txBody>
                    <a:bodyPr/>
                    <a:lstStyle/>
                    <a:p>
                      <a:r>
                        <a:rPr sz="900"/>
                        <a:t>Parameter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  <a:solidFill>
                      <a:srgbClr val="1443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Basic response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  <a:solidFill>
                      <a:srgbClr val="144360"/>
                    </a:solidFill>
                  </a:tcPr>
                </a:tc>
              </a:tr>
              <a:tr h="260350">
                <a:tc>
                  <a:txBody>
                    <a:bodyPr/>
                    <a:lstStyle/>
                    <a:p>
                      <a:r>
                        <a:rPr sz="900"/>
                        <a:t>Decision basis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Route / delay view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r>
                        <a:rPr sz="900"/>
                        <a:t>Recovery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Manual or single action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r>
                        <a:rPr sz="900"/>
                        <a:t>Plan changes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May rework many stops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r>
                        <a:rPr sz="900"/>
                        <a:t>Evaluation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Time / distance</a:t>
                      </a:r>
                      <a:endParaRPr sz="900"/>
                    </a:p>
                  </a:txBody>
                  <a:tcPr marL="0" marR="0" marT="64769" marB="0">
                    <a:lnL w="9525">
                      <a:solidFill>
                        <a:srgbClr val="D4D8DC"/>
                      </a:solidFill>
                      <a:prstDash val="solid"/>
                    </a:lnL>
                    <a:lnR w="9525">
                      <a:solidFill>
                        <a:srgbClr val="D4D8DC"/>
                      </a:solidFill>
                      <a:prstDash val="solid"/>
                    </a:lnR>
                    <a:lnT w="9525">
                      <a:solidFill>
                        <a:srgbClr val="D4D8DC"/>
                      </a:solidFill>
                      <a:prstDash val="solid"/>
                    </a:lnT>
                    <a:lnB w="9525">
                      <a:solidFill>
                        <a:srgbClr val="D4D8D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777760" y="2708910"/>
            <a:ext cx="2160270" cy="1303020"/>
          </a:xfrm>
          <a:prstGeom prst="rect">
            <a:avLst/>
          </a:prstGeom>
          <a:solidFill>
            <a:srgbClr val="D4F4E3"/>
          </a:solidFill>
          <a:ln w="12699">
            <a:solidFill>
              <a:srgbClr val="196F3D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213995" marR="240030" indent="-111125">
              <a:lnSpc>
                <a:spcPct val="100000"/>
              </a:lnSpc>
              <a:spcBef>
                <a:spcPts val="615"/>
              </a:spcBef>
              <a:spcAft>
                <a:spcPts val="200"/>
              </a:spcAft>
              <a:buChar char="•"/>
              <a:tabLst>
                <a:tab pos="217170" algn="l"/>
              </a:tabLst>
            </a:pPr>
            <a:r>
              <a:rPr sz="750"/>
              <a:t>Environmental Viability</a:t>
            </a:r>
            <a:endParaRPr sz="80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50"/>
              <a:t>Compare additional distance and fuel use for each recovery option. Prefer feasible plans that reduce unnecessary mileage and wasted trips.</a:t>
            </a:r>
            <a:endParaRPr sz="750"/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750"/>
              <a:t>Alignment: efficient logistics and digital operations.</a:t>
            </a:r>
            <a:endParaRPr sz="750"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765"/>
              </a:lnSpc>
              <a:spcAft>
                <a:spcPts val="200"/>
              </a:spcAft>
            </a:pPr>
            <a:r>
              <a:t>HackNext’26 — Ripple Logistics Recovery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165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IMPACT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BENEFITS</a:t>
            </a:r>
            <a:endParaRPr spc="-10" dirty="0"/>
          </a:p>
        </p:txBody>
      </p:sp>
      <p:sp>
        <p:nvSpPr>
          <p:cNvPr id="5" name="object 5"/>
          <p:cNvSpPr/>
          <p:nvPr/>
        </p:nvSpPr>
        <p:spPr>
          <a:xfrm>
            <a:off x="205740" y="720090"/>
            <a:ext cx="8732520" cy="0"/>
          </a:xfrm>
          <a:custGeom>
            <a:avLst/>
            <a:gdLst/>
            <a:ahLst/>
            <a:cxnLst/>
            <a:rect l="l" t="t" r="r" b="b"/>
            <a:pathLst>
              <a:path w="8732520">
                <a:moveTo>
                  <a:pt x="0" y="0"/>
                </a:moveTo>
                <a:lnTo>
                  <a:pt x="8732291" y="0"/>
                </a:lnTo>
              </a:path>
            </a:pathLst>
          </a:custGeom>
          <a:ln w="15874">
            <a:solidFill>
              <a:srgbClr val="2C3E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99612" y="810768"/>
            <a:ext cx="6199825" cy="823302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tabLst>
                <a:tab pos="118745" algn="l"/>
              </a:tabLst>
            </a:pPr>
            <a:r>
              <a:rPr sz="800"/>
              <a:t>Who benefits: logistics operators, transport teams, delivery managers and customers.</a:t>
            </a:r>
            <a:endParaRPr sz="900" dirty="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800"/>
              <a:t>Social / service: clearer prioritization and faster, more consistent decisions during disruption.</a:t>
            </a:r>
            <a:endParaRPr sz="800"/>
          </a:p>
          <a:p>
            <a:pPr>
              <a:spcAft>
                <a:spcPts val="200"/>
              </a:spcAft>
            </a:pPr>
            <a:r>
              <a:rPr sz="800"/>
              <a:t>Economic: helps estimate and reduce avoidable penalties, extra transport cost and revenue at risk.</a:t>
            </a:r>
            <a:endParaRPr sz="800"/>
          </a:p>
          <a:p>
            <a:pPr>
              <a:spcAft>
                <a:spcPts val="200"/>
              </a:spcAft>
            </a:pPr>
            <a:r>
              <a:rPr sz="800"/>
              <a:t>Operational: makes downstream impacts and trade-offs visible.</a:t>
            </a:r>
            <a:endParaRPr sz="800"/>
          </a:p>
        </p:txBody>
      </p:sp>
      <p:sp>
        <p:nvSpPr>
          <p:cNvPr id="7" name="object 7"/>
          <p:cNvSpPr txBox="1"/>
          <p:nvPr/>
        </p:nvSpPr>
        <p:spPr>
          <a:xfrm>
            <a:off x="3877755" y="1560957"/>
            <a:ext cx="138874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IMPACT</a:t>
            </a:r>
            <a:r>
              <a:rPr sz="1100" b="1" spc="-5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spc="-45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AT</a:t>
            </a:r>
            <a:r>
              <a:rPr sz="1100" b="1" spc="-5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100" b="1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A </a:t>
            </a:r>
            <a:r>
              <a:rPr sz="1100" b="1" spc="-1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GLANCE</a:t>
            </a:r>
            <a:endParaRPr sz="11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740" y="1851660"/>
            <a:ext cx="2054860" cy="608965"/>
          </a:xfrm>
          <a:prstGeom prst="rect">
            <a:avLst/>
          </a:prstGeom>
          <a:solidFill>
            <a:srgbClr val="F4F6F6"/>
          </a:solidFill>
          <a:ln w="12699">
            <a:solidFill>
              <a:srgbClr val="D4D8DC"/>
            </a:solidFill>
          </a:ln>
        </p:spPr>
        <p:txBody>
          <a:bodyPr vert="horz" wrap="square" lIns="0" tIns="1835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45"/>
              </a:spcBef>
              <a:spcAft>
                <a:spcPts val="200"/>
              </a:spcAft>
            </a:pPr>
            <a:r>
              <a:rPr sz="1300"/>
              <a:t>Decision time</a:t>
            </a:r>
            <a:endParaRPr sz="2000" dirty="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lang="en-IN" altLang="" sz="1300"/>
              <a:t>      </a:t>
            </a:r>
            <a:r>
              <a:rPr sz="1300"/>
              <a:t>Measure in demo</a:t>
            </a:r>
            <a:endParaRPr sz="1300"/>
          </a:p>
        </p:txBody>
      </p:sp>
      <p:sp>
        <p:nvSpPr>
          <p:cNvPr id="9" name="object 9"/>
          <p:cNvSpPr txBox="1"/>
          <p:nvPr/>
        </p:nvSpPr>
        <p:spPr>
          <a:xfrm>
            <a:off x="2431415" y="1851660"/>
            <a:ext cx="2054860" cy="596900"/>
          </a:xfrm>
          <a:prstGeom prst="rect">
            <a:avLst/>
          </a:prstGeom>
          <a:solidFill>
            <a:srgbClr val="F4F6F6"/>
          </a:solidFill>
          <a:ln w="12699">
            <a:solidFill>
              <a:srgbClr val="D4D8DC"/>
            </a:solidFill>
          </a:ln>
        </p:spPr>
        <p:txBody>
          <a:bodyPr vert="horz" wrap="square" lIns="0" tIns="183515" rIns="0" bIns="0" rtlCol="0">
            <a:noAutofit/>
          </a:bodyPr>
          <a:lstStyle/>
          <a:p>
            <a:pPr marL="531495">
              <a:lnSpc>
                <a:spcPct val="100000"/>
              </a:lnSpc>
              <a:spcBef>
                <a:spcPts val="1445"/>
              </a:spcBef>
              <a:spcAft>
                <a:spcPts val="200"/>
              </a:spcAft>
            </a:pPr>
            <a:r>
              <a:rPr sz="1300"/>
              <a:t>₹ Impact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lang="en-IN" altLang="" sz="1300"/>
              <a:t>     </a:t>
            </a:r>
            <a:r>
              <a:rPr sz="1300"/>
              <a:t>Estimate per scenario</a:t>
            </a:r>
            <a:endParaRPr sz="1300"/>
          </a:p>
        </p:txBody>
      </p:sp>
      <p:sp>
        <p:nvSpPr>
          <p:cNvPr id="10" name="object 10"/>
          <p:cNvSpPr txBox="1"/>
          <p:nvPr/>
        </p:nvSpPr>
        <p:spPr>
          <a:xfrm>
            <a:off x="4657611" y="1851660"/>
            <a:ext cx="2054860" cy="608965"/>
          </a:xfrm>
          <a:prstGeom prst="rect">
            <a:avLst/>
          </a:prstGeom>
          <a:solidFill>
            <a:srgbClr val="F4F6F6"/>
          </a:solidFill>
          <a:ln w="12699">
            <a:solidFill>
              <a:srgbClr val="D4D8DC"/>
            </a:solidFill>
          </a:ln>
        </p:spPr>
        <p:txBody>
          <a:bodyPr vert="horz" wrap="square" lIns="0" tIns="183515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1445"/>
              </a:spcBef>
              <a:spcAft>
                <a:spcPts val="200"/>
              </a:spcAft>
            </a:pPr>
            <a:r>
              <a:rPr sz="1300"/>
              <a:t>10 vehicles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lang="en-IN" altLang="" sz="1300"/>
              <a:t>      </a:t>
            </a:r>
            <a:r>
              <a:rPr sz="1300"/>
              <a:t>40 sample orders</a:t>
            </a:r>
            <a:endParaRPr sz="1300"/>
          </a:p>
        </p:txBody>
      </p:sp>
      <p:sp>
        <p:nvSpPr>
          <p:cNvPr id="11" name="object 11"/>
          <p:cNvSpPr txBox="1"/>
          <p:nvPr/>
        </p:nvSpPr>
        <p:spPr>
          <a:xfrm>
            <a:off x="6883400" y="1851660"/>
            <a:ext cx="2054860" cy="640080"/>
          </a:xfrm>
          <a:prstGeom prst="rect">
            <a:avLst/>
          </a:prstGeom>
          <a:solidFill>
            <a:srgbClr val="F4F6F6"/>
          </a:solidFill>
          <a:ln w="12699">
            <a:solidFill>
              <a:srgbClr val="D4D8DC"/>
            </a:solidFill>
          </a:ln>
        </p:spPr>
        <p:txBody>
          <a:bodyPr vert="horz" wrap="square" lIns="0" tIns="183515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445"/>
              </a:spcBef>
              <a:spcAft>
                <a:spcPts val="200"/>
              </a:spcAft>
            </a:pPr>
            <a:r>
              <a:rPr sz="1300"/>
              <a:t>Plan changes</a:t>
            </a:r>
            <a:endParaRPr sz="200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lang="en-IN" altLang="" sz="1300"/>
              <a:t>        </a:t>
            </a:r>
            <a:r>
              <a:rPr sz="1300"/>
              <a:t>Count per option</a:t>
            </a:r>
            <a:endParaRPr sz="1300"/>
          </a:p>
        </p:txBody>
      </p:sp>
      <p:sp>
        <p:nvSpPr>
          <p:cNvPr id="12" name="object 12"/>
          <p:cNvSpPr txBox="1"/>
          <p:nvPr/>
        </p:nvSpPr>
        <p:spPr>
          <a:xfrm>
            <a:off x="205740" y="3120389"/>
            <a:ext cx="2796540" cy="811761"/>
          </a:xfrm>
          <a:prstGeom prst="rect">
            <a:avLst/>
          </a:prstGeom>
          <a:solidFill>
            <a:srgbClr val="D6EAF7"/>
          </a:solidFill>
          <a:ln w="12699">
            <a:solidFill>
              <a:srgbClr val="1F618D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0"/>
              </a:spcBef>
              <a:spcAft>
                <a:spcPts val="200"/>
              </a:spcAft>
            </a:pPr>
            <a:r>
              <a:rPr sz="750"/>
              <a:t>Operational Impact</a:t>
            </a:r>
            <a:endParaRPr sz="1000" dirty="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50"/>
              <a:t>Highlights critical orders, affected handoffs and decisions that need attention.</a:t>
            </a:r>
            <a:endParaRPr sz="750"/>
          </a:p>
        </p:txBody>
      </p:sp>
      <p:sp>
        <p:nvSpPr>
          <p:cNvPr id="13" name="object 13"/>
          <p:cNvSpPr txBox="1"/>
          <p:nvPr/>
        </p:nvSpPr>
        <p:spPr>
          <a:xfrm>
            <a:off x="3173653" y="3120389"/>
            <a:ext cx="2796540" cy="811761"/>
          </a:xfrm>
          <a:prstGeom prst="rect">
            <a:avLst/>
          </a:prstGeom>
          <a:solidFill>
            <a:srgbClr val="FCEBD0"/>
          </a:solidFill>
          <a:ln w="12699">
            <a:solidFill>
              <a:srgbClr val="CA6F1E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0"/>
              </a:spcBef>
              <a:spcAft>
                <a:spcPts val="200"/>
              </a:spcAft>
            </a:pPr>
            <a:r>
              <a:rPr sz="750"/>
              <a:t>Economic Impact</a:t>
            </a:r>
            <a:endParaRPr sz="1000" dirty="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50"/>
              <a:t>Compares estimated added cost against penalties avoided and revenue protected. Benefits must be validated using real or representative data.</a:t>
            </a:r>
            <a:endParaRPr sz="750"/>
          </a:p>
        </p:txBody>
      </p:sp>
      <p:sp>
        <p:nvSpPr>
          <p:cNvPr id="14" name="object 14"/>
          <p:cNvSpPr txBox="1"/>
          <p:nvPr/>
        </p:nvSpPr>
        <p:spPr>
          <a:xfrm>
            <a:off x="6141567" y="3120389"/>
            <a:ext cx="2796540" cy="688650"/>
          </a:xfrm>
          <a:prstGeom prst="rect">
            <a:avLst/>
          </a:prstGeom>
          <a:solidFill>
            <a:srgbClr val="D4F4E3"/>
          </a:solidFill>
          <a:ln w="12699">
            <a:solidFill>
              <a:srgbClr val="196F3D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950"/>
              </a:spcBef>
              <a:spcAft>
                <a:spcPts val="200"/>
              </a:spcAft>
            </a:pPr>
            <a:r>
              <a:rPr sz="750"/>
              <a:t>Environmental Impact</a:t>
            </a:r>
            <a:endParaRPr sz="1000" dirty="0">
              <a:latin typeface="Cambria" panose="02040503050406030204"/>
              <a:cs typeface="Cambria" panose="02040503050406030204"/>
            </a:endParaRPr>
          </a:p>
          <a:p>
            <a:pPr>
              <a:spcAft>
                <a:spcPts val="200"/>
              </a:spcAft>
            </a:pPr>
            <a:r>
              <a:rPr sz="750"/>
              <a:t>Compares route distance and estimated fuel use to avoid unnecessary detours where feasible.</a:t>
            </a:r>
            <a:endParaRPr sz="750"/>
          </a:p>
        </p:txBody>
      </p:sp>
      <p:sp>
        <p:nvSpPr>
          <p:cNvPr id="15" name="object 15"/>
          <p:cNvSpPr txBox="1"/>
          <p:nvPr/>
        </p:nvSpPr>
        <p:spPr>
          <a:xfrm>
            <a:off x="3436811" y="4380865"/>
            <a:ext cx="22694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ALIGNED</a:t>
            </a:r>
            <a:r>
              <a:rPr sz="1000" b="1" spc="-25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b="1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WITH</a:t>
            </a:r>
            <a:r>
              <a:rPr sz="1000" b="1" spc="-25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b="1" spc="-2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NATIONAL</a:t>
            </a:r>
            <a:r>
              <a:rPr sz="1000" b="1" spc="-25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000" b="1" spc="-10" dirty="0">
                <a:solidFill>
                  <a:srgbClr val="144360"/>
                </a:solidFill>
                <a:latin typeface="Cambria" panose="02040503050406030204"/>
                <a:cs typeface="Cambria" panose="02040503050406030204"/>
              </a:rPr>
              <a:t>PRIORITIES</a:t>
            </a:r>
            <a:endParaRPr sz="10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5740" y="4629150"/>
            <a:ext cx="2773680" cy="377190"/>
          </a:xfrm>
          <a:custGeom>
            <a:avLst/>
            <a:gdLst/>
            <a:ahLst/>
            <a:cxnLst/>
            <a:rect l="l" t="t" r="r" b="b"/>
            <a:pathLst>
              <a:path w="2773680" h="377189">
                <a:moveTo>
                  <a:pt x="2585008" y="377189"/>
                </a:moveTo>
                <a:lnTo>
                  <a:pt x="188594" y="377189"/>
                </a:lnTo>
                <a:lnTo>
                  <a:pt x="138458" y="370453"/>
                </a:lnTo>
                <a:lnTo>
                  <a:pt x="93407" y="351441"/>
                </a:lnTo>
                <a:lnTo>
                  <a:pt x="55238" y="321951"/>
                </a:lnTo>
                <a:lnTo>
                  <a:pt x="25748" y="283782"/>
                </a:lnTo>
                <a:lnTo>
                  <a:pt x="6736" y="238730"/>
                </a:lnTo>
                <a:lnTo>
                  <a:pt x="0" y="188594"/>
                </a:lnTo>
                <a:lnTo>
                  <a:pt x="6736" y="138458"/>
                </a:lnTo>
                <a:lnTo>
                  <a:pt x="25748" y="93407"/>
                </a:lnTo>
                <a:lnTo>
                  <a:pt x="55238" y="55238"/>
                </a:lnTo>
                <a:lnTo>
                  <a:pt x="93407" y="25748"/>
                </a:lnTo>
                <a:lnTo>
                  <a:pt x="138458" y="6736"/>
                </a:lnTo>
                <a:lnTo>
                  <a:pt x="188594" y="0"/>
                </a:lnTo>
                <a:lnTo>
                  <a:pt x="2585008" y="0"/>
                </a:lnTo>
                <a:lnTo>
                  <a:pt x="2657180" y="14356"/>
                </a:lnTo>
                <a:lnTo>
                  <a:pt x="2718365" y="55238"/>
                </a:lnTo>
                <a:lnTo>
                  <a:pt x="2759247" y="116422"/>
                </a:lnTo>
                <a:lnTo>
                  <a:pt x="2773603" y="188594"/>
                </a:lnTo>
                <a:lnTo>
                  <a:pt x="2766866" y="238730"/>
                </a:lnTo>
                <a:lnTo>
                  <a:pt x="2747854" y="283782"/>
                </a:lnTo>
                <a:lnTo>
                  <a:pt x="2718365" y="321951"/>
                </a:lnTo>
                <a:lnTo>
                  <a:pt x="2680195" y="351441"/>
                </a:lnTo>
                <a:lnTo>
                  <a:pt x="2635144" y="370453"/>
                </a:lnTo>
                <a:lnTo>
                  <a:pt x="2585008" y="377189"/>
                </a:lnTo>
                <a:close/>
              </a:path>
            </a:pathLst>
          </a:custGeom>
          <a:solidFill>
            <a:srgbClr val="1F6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69454" y="4731892"/>
            <a:ext cx="104584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800"/>
              <a:t>National Logistics Policy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85083" y="4629150"/>
            <a:ext cx="2773680" cy="377190"/>
          </a:xfrm>
          <a:custGeom>
            <a:avLst/>
            <a:gdLst/>
            <a:ahLst/>
            <a:cxnLst/>
            <a:rect l="l" t="t" r="r" b="b"/>
            <a:pathLst>
              <a:path w="2773679" h="377189">
                <a:moveTo>
                  <a:pt x="2585008" y="377189"/>
                </a:moveTo>
                <a:lnTo>
                  <a:pt x="188594" y="377189"/>
                </a:lnTo>
                <a:lnTo>
                  <a:pt x="138458" y="370453"/>
                </a:lnTo>
                <a:lnTo>
                  <a:pt x="93407" y="351441"/>
                </a:lnTo>
                <a:lnTo>
                  <a:pt x="55238" y="321951"/>
                </a:lnTo>
                <a:lnTo>
                  <a:pt x="25748" y="283782"/>
                </a:lnTo>
                <a:lnTo>
                  <a:pt x="6736" y="238730"/>
                </a:lnTo>
                <a:lnTo>
                  <a:pt x="0" y="188594"/>
                </a:lnTo>
                <a:lnTo>
                  <a:pt x="6736" y="138458"/>
                </a:lnTo>
                <a:lnTo>
                  <a:pt x="25748" y="93407"/>
                </a:lnTo>
                <a:lnTo>
                  <a:pt x="55238" y="55238"/>
                </a:lnTo>
                <a:lnTo>
                  <a:pt x="93407" y="25748"/>
                </a:lnTo>
                <a:lnTo>
                  <a:pt x="138458" y="6736"/>
                </a:lnTo>
                <a:lnTo>
                  <a:pt x="188594" y="0"/>
                </a:lnTo>
                <a:lnTo>
                  <a:pt x="2585008" y="0"/>
                </a:lnTo>
                <a:lnTo>
                  <a:pt x="2657180" y="14356"/>
                </a:lnTo>
                <a:lnTo>
                  <a:pt x="2718365" y="55238"/>
                </a:lnTo>
                <a:lnTo>
                  <a:pt x="2759247" y="116422"/>
                </a:lnTo>
                <a:lnTo>
                  <a:pt x="2773603" y="188594"/>
                </a:lnTo>
                <a:lnTo>
                  <a:pt x="2766866" y="238730"/>
                </a:lnTo>
                <a:lnTo>
                  <a:pt x="2747854" y="283782"/>
                </a:lnTo>
                <a:lnTo>
                  <a:pt x="2718365" y="321951"/>
                </a:lnTo>
                <a:lnTo>
                  <a:pt x="2680195" y="351441"/>
                </a:lnTo>
                <a:lnTo>
                  <a:pt x="2635144" y="370453"/>
                </a:lnTo>
                <a:lnTo>
                  <a:pt x="2585008" y="377189"/>
                </a:lnTo>
                <a:close/>
              </a:path>
            </a:pathLst>
          </a:custGeom>
          <a:solidFill>
            <a:srgbClr val="1F6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048797" y="4731892"/>
            <a:ext cx="104584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800"/>
              <a:t>PM GatiShakti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164427" y="4629150"/>
            <a:ext cx="2773680" cy="377190"/>
          </a:xfrm>
          <a:custGeom>
            <a:avLst/>
            <a:gdLst/>
            <a:ahLst/>
            <a:cxnLst/>
            <a:rect l="l" t="t" r="r" b="b"/>
            <a:pathLst>
              <a:path w="2773679" h="377189">
                <a:moveTo>
                  <a:pt x="2585008" y="377189"/>
                </a:moveTo>
                <a:lnTo>
                  <a:pt x="188594" y="377189"/>
                </a:lnTo>
                <a:lnTo>
                  <a:pt x="138458" y="370453"/>
                </a:lnTo>
                <a:lnTo>
                  <a:pt x="93407" y="351441"/>
                </a:lnTo>
                <a:lnTo>
                  <a:pt x="55238" y="321951"/>
                </a:lnTo>
                <a:lnTo>
                  <a:pt x="25748" y="283782"/>
                </a:lnTo>
                <a:lnTo>
                  <a:pt x="6736" y="238730"/>
                </a:lnTo>
                <a:lnTo>
                  <a:pt x="0" y="188594"/>
                </a:lnTo>
                <a:lnTo>
                  <a:pt x="6736" y="138458"/>
                </a:lnTo>
                <a:lnTo>
                  <a:pt x="25748" y="93407"/>
                </a:lnTo>
                <a:lnTo>
                  <a:pt x="55238" y="55238"/>
                </a:lnTo>
                <a:lnTo>
                  <a:pt x="93407" y="25748"/>
                </a:lnTo>
                <a:lnTo>
                  <a:pt x="138458" y="6736"/>
                </a:lnTo>
                <a:lnTo>
                  <a:pt x="188594" y="0"/>
                </a:lnTo>
                <a:lnTo>
                  <a:pt x="2585008" y="0"/>
                </a:lnTo>
                <a:lnTo>
                  <a:pt x="2657180" y="14356"/>
                </a:lnTo>
                <a:lnTo>
                  <a:pt x="2718365" y="55238"/>
                </a:lnTo>
                <a:lnTo>
                  <a:pt x="2759247" y="116422"/>
                </a:lnTo>
                <a:lnTo>
                  <a:pt x="2773603" y="188594"/>
                </a:lnTo>
                <a:lnTo>
                  <a:pt x="2766866" y="238730"/>
                </a:lnTo>
                <a:lnTo>
                  <a:pt x="2747854" y="283782"/>
                </a:lnTo>
                <a:lnTo>
                  <a:pt x="2718365" y="321951"/>
                </a:lnTo>
                <a:lnTo>
                  <a:pt x="2680195" y="351441"/>
                </a:lnTo>
                <a:lnTo>
                  <a:pt x="2635144" y="370453"/>
                </a:lnTo>
                <a:lnTo>
                  <a:pt x="2585008" y="377189"/>
                </a:lnTo>
                <a:close/>
              </a:path>
            </a:pathLst>
          </a:custGeom>
          <a:solidFill>
            <a:srgbClr val="1F61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7028142" y="4731892"/>
            <a:ext cx="104584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800"/>
              <a:t>Digital India</a:t>
            </a:r>
            <a:endParaRPr sz="9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RESEARCH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REFERENCES</a:t>
            </a:r>
            <a:endParaRPr spc="-10" dirty="0"/>
          </a:p>
        </p:txBody>
      </p:sp>
      <p:sp>
        <p:nvSpPr>
          <p:cNvPr id="5" name="object 5"/>
          <p:cNvSpPr/>
          <p:nvPr/>
        </p:nvSpPr>
        <p:spPr>
          <a:xfrm>
            <a:off x="205740" y="720090"/>
            <a:ext cx="8732520" cy="0"/>
          </a:xfrm>
          <a:custGeom>
            <a:avLst/>
            <a:gdLst/>
            <a:ahLst/>
            <a:cxnLst/>
            <a:rect l="l" t="t" r="r" b="b"/>
            <a:pathLst>
              <a:path w="8732520">
                <a:moveTo>
                  <a:pt x="0" y="0"/>
                </a:moveTo>
                <a:lnTo>
                  <a:pt x="8732291" y="0"/>
                </a:lnTo>
              </a:path>
            </a:pathLst>
          </a:custGeom>
          <a:ln w="15874">
            <a:solidFill>
              <a:srgbClr val="2C3E5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199389" y="919480"/>
            <a:ext cx="4276090" cy="3373120"/>
            <a:chOff x="199389" y="919480"/>
            <a:chExt cx="4276090" cy="3373120"/>
          </a:xfrm>
        </p:grpSpPr>
        <p:sp>
          <p:nvSpPr>
            <p:cNvPr id="7" name="object 7"/>
            <p:cNvSpPr/>
            <p:nvPr/>
          </p:nvSpPr>
          <p:spPr>
            <a:xfrm>
              <a:off x="205739" y="925830"/>
              <a:ext cx="4263390" cy="3360420"/>
            </a:xfrm>
            <a:custGeom>
              <a:avLst/>
              <a:gdLst/>
              <a:ahLst/>
              <a:cxnLst/>
              <a:rect l="l" t="t" r="r" b="b"/>
              <a:pathLst>
                <a:path w="4263390" h="3360420">
                  <a:moveTo>
                    <a:pt x="0" y="0"/>
                  </a:moveTo>
                  <a:lnTo>
                    <a:pt x="4263275" y="0"/>
                  </a:lnTo>
                  <a:lnTo>
                    <a:pt x="4263275" y="3360419"/>
                  </a:lnTo>
                  <a:lnTo>
                    <a:pt x="0" y="336041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2C3E5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77189" y="109728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59" y="274319"/>
                  </a:moveTo>
                  <a:lnTo>
                    <a:pt x="93806" y="267327"/>
                  </a:lnTo>
                  <a:lnTo>
                    <a:pt x="56155" y="247856"/>
                  </a:lnTo>
                  <a:lnTo>
                    <a:pt x="26463" y="218164"/>
                  </a:lnTo>
                  <a:lnTo>
                    <a:pt x="6992" y="180513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6" y="6992"/>
                  </a:lnTo>
                  <a:lnTo>
                    <a:pt x="137159" y="0"/>
                  </a:lnTo>
                  <a:lnTo>
                    <a:pt x="164043" y="2659"/>
                  </a:lnTo>
                  <a:lnTo>
                    <a:pt x="213256" y="23044"/>
                  </a:lnTo>
                  <a:lnTo>
                    <a:pt x="251275" y="61063"/>
                  </a:lnTo>
                  <a:lnTo>
                    <a:pt x="271660" y="110276"/>
                  </a:lnTo>
                  <a:lnTo>
                    <a:pt x="274319" y="137159"/>
                  </a:lnTo>
                  <a:lnTo>
                    <a:pt x="267327" y="180513"/>
                  </a:lnTo>
                  <a:lnTo>
                    <a:pt x="247856" y="218164"/>
                  </a:lnTo>
                  <a:lnTo>
                    <a:pt x="218164" y="247856"/>
                  </a:lnTo>
                  <a:lnTo>
                    <a:pt x="180513" y="267327"/>
                  </a:lnTo>
                  <a:lnTo>
                    <a:pt x="137159" y="274319"/>
                  </a:lnTo>
                  <a:close/>
                </a:path>
              </a:pathLst>
            </a:custGeom>
            <a:solidFill>
              <a:srgbClr val="6C348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75053" y="1132332"/>
            <a:ext cx="914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R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380" y="1141348"/>
            <a:ext cx="7143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6C3483"/>
                </a:solidFill>
                <a:latin typeface="Cambria" panose="02040503050406030204"/>
                <a:cs typeface="Cambria" panose="02040503050406030204"/>
              </a:rPr>
              <a:t>Reference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353" y="1560067"/>
            <a:ext cx="2908935" cy="20903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8745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Char char="•"/>
              <a:tabLst>
                <a:tab pos="118745" algn="l"/>
              </a:tabLst>
            </a:pPr>
            <a:r>
              <a:rPr sz="750"/>
              <a:t>1. HackNext’26 PS02 — Transportation &amp; Logistics: Disruption-Aware Logistics Planning (provided problem statement).</a:t>
            </a:r>
            <a:endParaRPr lang="en-US" sz="900" dirty="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750"/>
              <a:t>2. Google OR-Tools documentation — vehicle routing and constraint optimization.</a:t>
            </a:r>
            <a:endParaRPr sz="750"/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750"/>
              <a:t>3. NetworkX documentation — graph modelling and traversal.</a:t>
            </a:r>
            <a:endParaRPr sz="750"/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750"/>
              <a:t>4. OpenStreetMap — open geographic map data.</a:t>
            </a:r>
            <a:endParaRPr sz="750"/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750"/>
              <a:t>5. Research direction: disruption-aware vehicle routing, dynamic vehicle routing, supply-chain risk propagation and explainable optimization.</a:t>
            </a:r>
            <a:endParaRPr sz="750"/>
          </a:p>
        </p:txBody>
      </p:sp>
      <p:grpSp>
        <p:nvGrpSpPr>
          <p:cNvPr id="12" name="object 12"/>
          <p:cNvGrpSpPr/>
          <p:nvPr/>
        </p:nvGrpSpPr>
        <p:grpSpPr>
          <a:xfrm>
            <a:off x="4668405" y="919480"/>
            <a:ext cx="4276090" cy="3373120"/>
            <a:chOff x="4668405" y="919480"/>
            <a:chExt cx="4276090" cy="3373120"/>
          </a:xfrm>
        </p:grpSpPr>
        <p:sp>
          <p:nvSpPr>
            <p:cNvPr id="13" name="object 13"/>
            <p:cNvSpPr/>
            <p:nvPr/>
          </p:nvSpPr>
          <p:spPr>
            <a:xfrm>
              <a:off x="4674755" y="925830"/>
              <a:ext cx="4263390" cy="3360420"/>
            </a:xfrm>
            <a:custGeom>
              <a:avLst/>
              <a:gdLst/>
              <a:ahLst/>
              <a:cxnLst/>
              <a:rect l="l" t="t" r="r" b="b"/>
              <a:pathLst>
                <a:path w="4263390" h="3360420">
                  <a:moveTo>
                    <a:pt x="0" y="0"/>
                  </a:moveTo>
                  <a:lnTo>
                    <a:pt x="4263276" y="0"/>
                  </a:lnTo>
                  <a:lnTo>
                    <a:pt x="4263276" y="3360419"/>
                  </a:lnTo>
                  <a:lnTo>
                    <a:pt x="0" y="336041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1F61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846205" y="1097280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60" y="274319"/>
                  </a:moveTo>
                  <a:lnTo>
                    <a:pt x="93807" y="267327"/>
                  </a:lnTo>
                  <a:lnTo>
                    <a:pt x="56155" y="247856"/>
                  </a:lnTo>
                  <a:lnTo>
                    <a:pt x="26463" y="218164"/>
                  </a:lnTo>
                  <a:lnTo>
                    <a:pt x="6992" y="180513"/>
                  </a:lnTo>
                  <a:lnTo>
                    <a:pt x="0" y="137159"/>
                  </a:lnTo>
                  <a:lnTo>
                    <a:pt x="6992" y="93806"/>
                  </a:lnTo>
                  <a:lnTo>
                    <a:pt x="26463" y="56155"/>
                  </a:lnTo>
                  <a:lnTo>
                    <a:pt x="56155" y="26463"/>
                  </a:lnTo>
                  <a:lnTo>
                    <a:pt x="93807" y="6992"/>
                  </a:lnTo>
                  <a:lnTo>
                    <a:pt x="137160" y="0"/>
                  </a:lnTo>
                  <a:lnTo>
                    <a:pt x="164043" y="2659"/>
                  </a:lnTo>
                  <a:lnTo>
                    <a:pt x="213256" y="23044"/>
                  </a:lnTo>
                  <a:lnTo>
                    <a:pt x="251275" y="61063"/>
                  </a:lnTo>
                  <a:lnTo>
                    <a:pt x="271660" y="110276"/>
                  </a:lnTo>
                  <a:lnTo>
                    <a:pt x="274320" y="137159"/>
                  </a:lnTo>
                  <a:lnTo>
                    <a:pt x="267327" y="180513"/>
                  </a:lnTo>
                  <a:lnTo>
                    <a:pt x="247856" y="218164"/>
                  </a:lnTo>
                  <a:lnTo>
                    <a:pt x="218165" y="247856"/>
                  </a:lnTo>
                  <a:lnTo>
                    <a:pt x="180513" y="267327"/>
                  </a:lnTo>
                  <a:lnTo>
                    <a:pt x="137160" y="274319"/>
                  </a:lnTo>
                  <a:close/>
                </a:path>
              </a:pathLst>
            </a:custGeom>
            <a:solidFill>
              <a:srgbClr val="1F618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953850" y="1132332"/>
            <a:ext cx="723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FFFFFF"/>
                </a:solidFill>
                <a:latin typeface="Calibri" panose="020F0502020204030204"/>
                <a:cs typeface="Calibri" panose="020F0502020204030204"/>
              </a:rPr>
              <a:t>L</a:t>
            </a:r>
            <a:endParaRPr sz="11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23396" y="1141348"/>
            <a:ext cx="396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1F618D"/>
                </a:solidFill>
                <a:latin typeface="Cambria" panose="02040503050406030204"/>
                <a:cs typeface="Cambria" panose="02040503050406030204"/>
              </a:rPr>
              <a:t>Links</a:t>
            </a:r>
            <a:endParaRPr sz="1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74369" y="1560067"/>
            <a:ext cx="2400300" cy="1419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8745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Char char="•"/>
              <a:tabLst>
                <a:tab pos="118745" algn="l"/>
              </a:tabLst>
            </a:pPr>
            <a:r>
              <a:rPr sz="750"/>
              <a:t>1. OR-Tools: https://developers.google.com/optimization</a:t>
            </a:r>
            <a:endParaRPr sz="900">
              <a:latin typeface="Calibri" panose="020F0502020204030204"/>
              <a:cs typeface="Calibri" panose="020F0502020204030204"/>
            </a:endParaRPr>
          </a:p>
          <a:p>
            <a:pPr>
              <a:spcAft>
                <a:spcPts val="200"/>
              </a:spcAft>
            </a:pPr>
            <a:r>
              <a:rPr sz="750"/>
              <a:t>2. NetworkX: https://networkx.org/documentation/stable/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3. OpenStreetMap: https://www.openstreetmap.org/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4. Problem statement: PS02 Transportation &amp; Logistics, supplied PDF.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5. Demo video: add after recording.</a:t>
            </a:r>
            <a:endParaRPr sz="750"/>
          </a:p>
          <a:p>
            <a:pPr>
              <a:spcAft>
                <a:spcPts val="200"/>
              </a:spcAft>
            </a:pPr>
            <a:r>
              <a:rPr sz="750"/>
              <a:t>6. Validation: document test scenarios, assumptions and measured outcomes.</a:t>
            </a:r>
            <a:endParaRPr sz="750"/>
          </a:p>
        </p:txBody>
      </p:sp>
      <p:sp>
        <p:nvSpPr>
          <p:cNvPr id="18" name="object 18"/>
          <p:cNvSpPr txBox="1"/>
          <p:nvPr/>
        </p:nvSpPr>
        <p:spPr>
          <a:xfrm>
            <a:off x="193040" y="4431411"/>
            <a:ext cx="490855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</a:pPr>
            <a:r>
              <a:rPr sz="750"/>
              <a:t>Differentiation to validate: combine dependency-based impact propagation with a minimum-change recovery objective and explicit business-value comparison. This is a proposed design hypothesis, not a claim of guaranteed novelty.</a:t>
            </a:r>
            <a:endParaRPr sz="800"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76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13*92"/>
  <p:tag name="TABLE_ENDDRAG_RECT" val="196*88*313*9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6772</Words>
  <Application>WPS Presentation</Application>
  <PresentationFormat>On-screen Show (16:9)</PresentationFormat>
  <Paragraphs>282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Cambria</vt:lpstr>
      <vt:lpstr>Calibri</vt:lpstr>
      <vt:lpstr>Arial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PROPOSED SOLUTION</vt:lpstr>
      <vt:lpstr>TECHNICAL APPROACH</vt:lpstr>
      <vt:lpstr>LOGO  RIPPLE</vt:lpstr>
      <vt:lpstr>IMPACT AND BENEFITS</vt:lpstr>
      <vt:lpstr>RESEARCH AND 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 Ideate Template</dc:title>
  <dc:creator/>
  <cp:lastModifiedBy>madushka kannan1138</cp:lastModifiedBy>
  <cp:revision>4</cp:revision>
  <dcterms:created xsi:type="dcterms:W3CDTF">2026-09-23T13:42:00Z</dcterms:created>
  <dcterms:modified xsi:type="dcterms:W3CDTF">2026-10-08T11:04:05Z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2026-09-23T05:30:00Z</vt:filetime>
  </property>
  <property fmtid="{D5CDD505-2E9C-101B-9397-08002B2CF9AE}" pid="4" name="Creator">
    <vt:lpwstr>Google</vt:lpwstr>
  </property>
  <property fmtid="{D5CDD505-2E9C-101B-9397-08002B2CF9AE}" pid="5" name="LastSaved">
    <vt:filetime>2026-09-23T05:30:00Z</vt:filetime>
  </property>
  <property fmtid="{D5CDD505-2E9C-101B-9397-08002B2CF9AE}" pid="6" name="KSOProductBuildVer">
    <vt:lpwstr>1033-12.1.0.28485</vt:lpwstr>
  </property>
  <property fmtid="{D5CDD505-2E9C-101B-9397-08002B2CF9AE}" pid="7" name="ICV">
    <vt:lpwstr>7F098FD29FBC4A44B67F41AFEDF9E1C2_12</vt:lpwstr>
  </property>
</Properties>
</file>